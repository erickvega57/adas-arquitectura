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DM Sans Bold" charset="1" panose="00000000000000000000"/>
      <p:regular r:id="rId14"/>
    </p:embeddedFont>
    <p:embeddedFont>
      <p:font typeface="DM Sans" charset="1" panose="00000000000000000000"/>
      <p:regular r:id="rId15"/>
    </p:embeddedFont>
    <p:embeddedFont>
      <p:font typeface="Raleway Bold" charset="1" panose="00000000000000000000"/>
      <p:regular r:id="rId16"/>
    </p:embeddedFont>
    <p:embeddedFont>
      <p:font typeface="Raleway Semi-Bold" charset="1" panose="000000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FF7D6"/>
        </a:solidFill>
      </p:bgPr>
    </p:bg>
    <p:spTree>
      <p:nvGrpSpPr>
        <p:cNvPr id="1" name=""/>
        <p:cNvGrpSpPr/>
        <p:nvPr/>
      </p:nvGrpSpPr>
      <p:grpSpPr>
        <a:xfrm>
          <a:off x="0" y="0"/>
          <a:ext cx="0" cy="0"/>
          <a:chOff x="0" y="0"/>
          <a:chExt cx="0" cy="0"/>
        </a:xfrm>
      </p:grpSpPr>
      <p:sp>
        <p:nvSpPr>
          <p:cNvPr name="TextBox 2" id="2"/>
          <p:cNvSpPr txBox="true"/>
          <p:nvPr/>
        </p:nvSpPr>
        <p:spPr>
          <a:xfrm rot="0">
            <a:off x="1048372" y="6665583"/>
            <a:ext cx="11980471" cy="2587550"/>
          </a:xfrm>
          <a:prstGeom prst="rect">
            <a:avLst/>
          </a:prstGeom>
        </p:spPr>
        <p:txBody>
          <a:bodyPr anchor="t" rtlCol="false" tIns="0" lIns="0" bIns="0" rIns="0">
            <a:spAutoFit/>
          </a:bodyPr>
          <a:lstStyle/>
          <a:p>
            <a:pPr algn="l">
              <a:lnSpc>
                <a:spcPts val="21125"/>
              </a:lnSpc>
            </a:pPr>
            <a:r>
              <a:rPr lang="en-US" sz="15089" b="true">
                <a:solidFill>
                  <a:srgbClr val="000000"/>
                </a:solidFill>
                <a:latin typeface="DM Sans Bold"/>
                <a:ea typeface="DM Sans Bold"/>
                <a:cs typeface="DM Sans Bold"/>
                <a:sym typeface="DM Sans Bold"/>
              </a:rPr>
              <a:t>Maze Game.</a:t>
            </a:r>
          </a:p>
        </p:txBody>
      </p:sp>
      <p:sp>
        <p:nvSpPr>
          <p:cNvPr name="TextBox 3" id="3"/>
          <p:cNvSpPr txBox="true"/>
          <p:nvPr/>
        </p:nvSpPr>
        <p:spPr>
          <a:xfrm rot="0">
            <a:off x="1028700" y="1178717"/>
            <a:ext cx="2274539" cy="438785"/>
          </a:xfrm>
          <a:prstGeom prst="rect">
            <a:avLst/>
          </a:prstGeom>
        </p:spPr>
        <p:txBody>
          <a:bodyPr anchor="t" rtlCol="false" tIns="0" lIns="0" bIns="0" rIns="0">
            <a:spAutoFit/>
          </a:bodyPr>
          <a:lstStyle/>
          <a:p>
            <a:pPr algn="l">
              <a:lnSpc>
                <a:spcPts val="3640"/>
              </a:lnSpc>
            </a:pPr>
            <a:r>
              <a:rPr lang="en-US" sz="2600" b="true">
                <a:solidFill>
                  <a:srgbClr val="000000"/>
                </a:solidFill>
                <a:latin typeface="DM Sans Bold"/>
                <a:ea typeface="DM Sans Bold"/>
                <a:cs typeface="DM Sans Bold"/>
                <a:sym typeface="DM Sans Bold"/>
              </a:rPr>
              <a:t>Equipo #</a:t>
            </a:r>
          </a:p>
        </p:txBody>
      </p:sp>
      <p:sp>
        <p:nvSpPr>
          <p:cNvPr name="TextBox 4" id="4"/>
          <p:cNvSpPr txBox="true"/>
          <p:nvPr/>
        </p:nvSpPr>
        <p:spPr>
          <a:xfrm rot="0">
            <a:off x="1048372" y="2102799"/>
            <a:ext cx="1816183" cy="233211"/>
          </a:xfrm>
          <a:prstGeom prst="rect">
            <a:avLst/>
          </a:prstGeom>
        </p:spPr>
        <p:txBody>
          <a:bodyPr anchor="t" rtlCol="false" tIns="0" lIns="0" bIns="0" rIns="0">
            <a:spAutoFit/>
          </a:bodyPr>
          <a:lstStyle/>
          <a:p>
            <a:pPr algn="l">
              <a:lnSpc>
                <a:spcPts val="1960"/>
              </a:lnSpc>
            </a:pPr>
            <a:r>
              <a:rPr lang="en-US" sz="1400">
                <a:solidFill>
                  <a:srgbClr val="000000"/>
                </a:solidFill>
                <a:latin typeface="DM Sans"/>
                <a:ea typeface="DM Sans"/>
                <a:cs typeface="DM Sans"/>
                <a:sym typeface="DM Sans"/>
              </a:rPr>
              <a:t>Moo Uc Valeria Sarai</a:t>
            </a:r>
          </a:p>
        </p:txBody>
      </p:sp>
      <p:sp>
        <p:nvSpPr>
          <p:cNvPr name="TextBox 5" id="5"/>
          <p:cNvSpPr txBox="true"/>
          <p:nvPr/>
        </p:nvSpPr>
        <p:spPr>
          <a:xfrm rot="0">
            <a:off x="1048372" y="1816760"/>
            <a:ext cx="2336795" cy="240665"/>
          </a:xfrm>
          <a:prstGeom prst="rect">
            <a:avLst/>
          </a:prstGeom>
        </p:spPr>
        <p:txBody>
          <a:bodyPr anchor="t" rtlCol="false" tIns="0" lIns="0" bIns="0" rIns="0">
            <a:spAutoFit/>
          </a:bodyPr>
          <a:lstStyle/>
          <a:p>
            <a:pPr algn="l">
              <a:lnSpc>
                <a:spcPts val="1960"/>
              </a:lnSpc>
            </a:pPr>
            <a:r>
              <a:rPr lang="en-US" sz="1400">
                <a:solidFill>
                  <a:srgbClr val="000000"/>
                </a:solidFill>
                <a:latin typeface="DM Sans"/>
                <a:ea typeface="DM Sans"/>
                <a:cs typeface="DM Sans"/>
                <a:sym typeface="DM Sans"/>
              </a:rPr>
              <a:t>Canto Medrano Russell</a:t>
            </a:r>
          </a:p>
        </p:txBody>
      </p:sp>
      <p:sp>
        <p:nvSpPr>
          <p:cNvPr name="TextBox 6" id="6"/>
          <p:cNvSpPr txBox="true"/>
          <p:nvPr/>
        </p:nvSpPr>
        <p:spPr>
          <a:xfrm rot="0">
            <a:off x="1048372" y="2393160"/>
            <a:ext cx="2336795" cy="233211"/>
          </a:xfrm>
          <a:prstGeom prst="rect">
            <a:avLst/>
          </a:prstGeom>
        </p:spPr>
        <p:txBody>
          <a:bodyPr anchor="t" rtlCol="false" tIns="0" lIns="0" bIns="0" rIns="0">
            <a:spAutoFit/>
          </a:bodyPr>
          <a:lstStyle/>
          <a:p>
            <a:pPr algn="l">
              <a:lnSpc>
                <a:spcPts val="1960"/>
              </a:lnSpc>
            </a:pPr>
            <a:r>
              <a:rPr lang="en-US" sz="1400">
                <a:solidFill>
                  <a:srgbClr val="000000"/>
                </a:solidFill>
                <a:latin typeface="DM Sans"/>
                <a:ea typeface="DM Sans"/>
                <a:cs typeface="DM Sans"/>
                <a:sym typeface="DM Sans"/>
              </a:rPr>
              <a:t>Vega Escobar Erick Manuel</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7D6"/>
        </a:solidFill>
      </p:bgPr>
    </p:bg>
    <p:spTree>
      <p:nvGrpSpPr>
        <p:cNvPr id="1" name=""/>
        <p:cNvGrpSpPr/>
        <p:nvPr/>
      </p:nvGrpSpPr>
      <p:grpSpPr>
        <a:xfrm>
          <a:off x="0" y="0"/>
          <a:ext cx="0" cy="0"/>
          <a:chOff x="0" y="0"/>
          <a:chExt cx="0" cy="0"/>
        </a:xfrm>
      </p:grpSpPr>
      <p:grpSp>
        <p:nvGrpSpPr>
          <p:cNvPr name="Group 2" id="2"/>
          <p:cNvGrpSpPr/>
          <p:nvPr/>
        </p:nvGrpSpPr>
        <p:grpSpPr>
          <a:xfrm rot="0">
            <a:off x="271416" y="426551"/>
            <a:ext cx="17745168" cy="9433899"/>
            <a:chOff x="0" y="0"/>
            <a:chExt cx="23660224" cy="12578531"/>
          </a:xfrm>
        </p:grpSpPr>
        <p:pic>
          <p:nvPicPr>
            <p:cNvPr name="Picture 3" id="3"/>
            <p:cNvPicPr>
              <a:picLocks noChangeAspect="true"/>
            </p:cNvPicPr>
            <p:nvPr/>
          </p:nvPicPr>
          <p:blipFill>
            <a:blip r:embed="rId2"/>
            <a:srcRect l="976" t="0" r="976" b="0"/>
            <a:stretch>
              <a:fillRect/>
            </a:stretch>
          </p:blipFill>
          <p:spPr>
            <a:xfrm flipH="false" flipV="false">
              <a:off x="0" y="0"/>
              <a:ext cx="23660224" cy="12578531"/>
            </a:xfrm>
            <a:prstGeom prst="rect">
              <a:avLst/>
            </a:prstGeom>
          </p:spPr>
        </p:pic>
      </p:grpSp>
      <p:sp>
        <p:nvSpPr>
          <p:cNvPr name="TextBox 4" id="4"/>
          <p:cNvSpPr txBox="true"/>
          <p:nvPr/>
        </p:nvSpPr>
        <p:spPr>
          <a:xfrm rot="0">
            <a:off x="1028700" y="9411115"/>
            <a:ext cx="771729" cy="239746"/>
          </a:xfrm>
          <a:prstGeom prst="rect">
            <a:avLst/>
          </a:prstGeom>
        </p:spPr>
        <p:txBody>
          <a:bodyPr anchor="t" rtlCol="false" tIns="0" lIns="0" bIns="0" rIns="0">
            <a:spAutoFit/>
          </a:bodyPr>
          <a:lstStyle/>
          <a:p>
            <a:pPr algn="l">
              <a:lnSpc>
                <a:spcPts val="2076"/>
              </a:lnSpc>
            </a:pPr>
            <a:r>
              <a:rPr lang="en-US" sz="1482" b="true">
                <a:solidFill>
                  <a:srgbClr val="000000"/>
                </a:solidFill>
                <a:latin typeface="DM Sans Bold"/>
                <a:ea typeface="DM Sans Bold"/>
                <a:cs typeface="DM Sans Bold"/>
                <a:sym typeface="DM Sans Bold"/>
              </a:rPr>
              <a:t>1</a:t>
            </a:r>
          </a:p>
        </p:txBody>
      </p:sp>
      <p:grpSp>
        <p:nvGrpSpPr>
          <p:cNvPr name="Group 5" id="5"/>
          <p:cNvGrpSpPr/>
          <p:nvPr/>
        </p:nvGrpSpPr>
        <p:grpSpPr>
          <a:xfrm rot="0">
            <a:off x="1028700" y="5143500"/>
            <a:ext cx="5423665" cy="3250127"/>
            <a:chOff x="0" y="0"/>
            <a:chExt cx="7231553" cy="4333503"/>
          </a:xfrm>
        </p:grpSpPr>
        <p:sp>
          <p:nvSpPr>
            <p:cNvPr name="TextBox 6" id="6"/>
            <p:cNvSpPr txBox="true"/>
            <p:nvPr/>
          </p:nvSpPr>
          <p:spPr>
            <a:xfrm rot="0">
              <a:off x="0" y="142875"/>
              <a:ext cx="7231553" cy="839037"/>
            </a:xfrm>
            <a:prstGeom prst="rect">
              <a:avLst/>
            </a:prstGeom>
          </p:spPr>
          <p:txBody>
            <a:bodyPr anchor="t" rtlCol="false" tIns="0" lIns="0" bIns="0" rIns="0">
              <a:spAutoFit/>
            </a:bodyPr>
            <a:lstStyle/>
            <a:p>
              <a:pPr algn="just">
                <a:lnSpc>
                  <a:spcPts val="4471"/>
                </a:lnSpc>
              </a:pPr>
              <a:r>
                <a:rPr lang="en-US" b="true" sz="4860">
                  <a:solidFill>
                    <a:srgbClr val="000000"/>
                  </a:solidFill>
                  <a:latin typeface="DM Sans Bold"/>
                  <a:ea typeface="DM Sans Bold"/>
                  <a:cs typeface="DM Sans Bold"/>
                  <a:sym typeface="DM Sans Bold"/>
                </a:rPr>
                <a:t>Antes</a:t>
              </a:r>
            </a:p>
          </p:txBody>
        </p:sp>
        <p:sp>
          <p:nvSpPr>
            <p:cNvPr name="TextBox 7" id="7"/>
            <p:cNvSpPr txBox="true"/>
            <p:nvPr/>
          </p:nvSpPr>
          <p:spPr>
            <a:xfrm rot="0">
              <a:off x="0" y="1315756"/>
              <a:ext cx="5813711" cy="3017747"/>
            </a:xfrm>
            <a:prstGeom prst="rect">
              <a:avLst/>
            </a:prstGeom>
          </p:spPr>
          <p:txBody>
            <a:bodyPr anchor="t" rtlCol="false" tIns="0" lIns="0" bIns="0" rIns="0">
              <a:spAutoFit/>
            </a:bodyPr>
            <a:lstStyle/>
            <a:p>
              <a:pPr algn="l">
                <a:lnSpc>
                  <a:spcPts val="2268"/>
                </a:lnSpc>
              </a:pPr>
              <a:r>
                <a:rPr lang="en-US" sz="1620">
                  <a:solidFill>
                    <a:srgbClr val="000000"/>
                  </a:solidFill>
                  <a:latin typeface="DM Sans"/>
                  <a:ea typeface="DM Sans"/>
                  <a:cs typeface="DM Sans"/>
                  <a:sym typeface="DM Sans"/>
                </a:rPr>
                <a:t>Al recibir el código, era muy dificil entender su organización, los recursos, niveles y clases se encontraban dentro del mismo paquete lo que dificultaba la lectura del proyecto.</a:t>
              </a:r>
            </a:p>
            <a:p>
              <a:pPr algn="l">
                <a:lnSpc>
                  <a:spcPts val="2268"/>
                </a:lnSpc>
              </a:pPr>
              <a:r>
                <a:rPr lang="en-US" sz="1620">
                  <a:solidFill>
                    <a:srgbClr val="000000"/>
                  </a:solidFill>
                  <a:latin typeface="DM Sans"/>
                  <a:ea typeface="DM Sans"/>
                  <a:cs typeface="DM Sans"/>
                  <a:sym typeface="DM Sans"/>
                </a:rPr>
                <a:t>De igual forma, la organización del código dentro de las clases complicaba su lectura (código mal identado, ubicación de los atributos y métodos en desorden, etc.).</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7D6"/>
        </a:solidFill>
      </p:bgPr>
    </p:bg>
    <p:spTree>
      <p:nvGrpSpPr>
        <p:cNvPr id="1" name=""/>
        <p:cNvGrpSpPr/>
        <p:nvPr/>
      </p:nvGrpSpPr>
      <p:grpSpPr>
        <a:xfrm>
          <a:off x="0" y="0"/>
          <a:ext cx="0" cy="0"/>
          <a:chOff x="0" y="0"/>
          <a:chExt cx="0" cy="0"/>
        </a:xfrm>
      </p:grpSpPr>
      <p:sp>
        <p:nvSpPr>
          <p:cNvPr name="Freeform 2" id="2"/>
          <p:cNvSpPr/>
          <p:nvPr/>
        </p:nvSpPr>
        <p:spPr>
          <a:xfrm flipH="false" flipV="false" rot="0">
            <a:off x="578038" y="378684"/>
            <a:ext cx="17131923" cy="9529632"/>
          </a:xfrm>
          <a:custGeom>
            <a:avLst/>
            <a:gdLst/>
            <a:ahLst/>
            <a:cxnLst/>
            <a:rect r="r" b="b" t="t" l="l"/>
            <a:pathLst>
              <a:path h="9529632" w="17131923">
                <a:moveTo>
                  <a:pt x="0" y="0"/>
                </a:moveTo>
                <a:lnTo>
                  <a:pt x="17131924" y="0"/>
                </a:lnTo>
                <a:lnTo>
                  <a:pt x="17131924" y="9529632"/>
                </a:lnTo>
                <a:lnTo>
                  <a:pt x="0" y="9529632"/>
                </a:lnTo>
                <a:lnTo>
                  <a:pt x="0" y="0"/>
                </a:lnTo>
                <a:close/>
              </a:path>
            </a:pathLst>
          </a:custGeom>
          <a:blipFill>
            <a:blip r:embed="rId2"/>
            <a:stretch>
              <a:fillRect l="0" t="0" r="0" b="0"/>
            </a:stretch>
          </a:blipFill>
        </p:spPr>
      </p:sp>
      <p:sp>
        <p:nvSpPr>
          <p:cNvPr name="TextBox 3" id="3"/>
          <p:cNvSpPr txBox="true"/>
          <p:nvPr/>
        </p:nvSpPr>
        <p:spPr>
          <a:xfrm rot="0">
            <a:off x="5646186" y="6809394"/>
            <a:ext cx="12063776" cy="765120"/>
          </a:xfrm>
          <a:prstGeom prst="rect">
            <a:avLst/>
          </a:prstGeom>
        </p:spPr>
        <p:txBody>
          <a:bodyPr anchor="t" rtlCol="false" tIns="0" lIns="0" bIns="0" rIns="0">
            <a:spAutoFit/>
          </a:bodyPr>
          <a:lstStyle/>
          <a:p>
            <a:pPr algn="just">
              <a:lnSpc>
                <a:spcPts val="5686"/>
              </a:lnSpc>
            </a:pPr>
            <a:r>
              <a:rPr lang="en-US" b="true" sz="6181">
                <a:solidFill>
                  <a:srgbClr val="000000"/>
                </a:solidFill>
                <a:latin typeface="DM Sans Bold"/>
                <a:ea typeface="DM Sans Bold"/>
                <a:cs typeface="DM Sans Bold"/>
                <a:sym typeface="DM Sans Bold"/>
              </a:rPr>
              <a:t>Después.</a:t>
            </a:r>
          </a:p>
        </p:txBody>
      </p:sp>
      <p:sp>
        <p:nvSpPr>
          <p:cNvPr name="TextBox 4" id="4"/>
          <p:cNvSpPr txBox="true"/>
          <p:nvPr/>
        </p:nvSpPr>
        <p:spPr>
          <a:xfrm rot="0">
            <a:off x="5646186" y="7816256"/>
            <a:ext cx="11613114" cy="1077974"/>
          </a:xfrm>
          <a:prstGeom prst="rect">
            <a:avLst/>
          </a:prstGeom>
        </p:spPr>
        <p:txBody>
          <a:bodyPr anchor="t" rtlCol="false" tIns="0" lIns="0" bIns="0" rIns="0">
            <a:spAutoFit/>
          </a:bodyPr>
          <a:lstStyle/>
          <a:p>
            <a:pPr algn="l">
              <a:lnSpc>
                <a:spcPts val="2884"/>
              </a:lnSpc>
            </a:pPr>
            <a:r>
              <a:rPr lang="en-US" sz="2060">
                <a:solidFill>
                  <a:srgbClr val="000000"/>
                </a:solidFill>
                <a:latin typeface="DM Sans"/>
                <a:ea typeface="DM Sans"/>
                <a:cs typeface="DM Sans"/>
                <a:sym typeface="DM Sans"/>
              </a:rPr>
              <a:t>Después del análisis para entender el funcionamiento del código, se decidió comenzar por la organización de la estructura del proyecto, organización del código y mejora en parte de la experiencia de usuario. Resultando el siguiente diagrama de clases UML</a:t>
            </a:r>
          </a:p>
        </p:txBody>
      </p:sp>
      <p:sp>
        <p:nvSpPr>
          <p:cNvPr name="TextBox 5" id="5"/>
          <p:cNvSpPr txBox="true"/>
          <p:nvPr/>
        </p:nvSpPr>
        <p:spPr>
          <a:xfrm rot="0">
            <a:off x="1028700" y="9411115"/>
            <a:ext cx="771729" cy="239746"/>
          </a:xfrm>
          <a:prstGeom prst="rect">
            <a:avLst/>
          </a:prstGeom>
        </p:spPr>
        <p:txBody>
          <a:bodyPr anchor="t" rtlCol="false" tIns="0" lIns="0" bIns="0" rIns="0">
            <a:spAutoFit/>
          </a:bodyPr>
          <a:lstStyle/>
          <a:p>
            <a:pPr algn="l">
              <a:lnSpc>
                <a:spcPts val="2076"/>
              </a:lnSpc>
            </a:pPr>
            <a:r>
              <a:rPr lang="en-US" sz="1482" b="true">
                <a:solidFill>
                  <a:srgbClr val="000000"/>
                </a:solidFill>
                <a:latin typeface="DM Sans Bold"/>
                <a:ea typeface="DM Sans Bold"/>
                <a:cs typeface="DM Sans Bold"/>
                <a:sym typeface="DM Sans Bold"/>
              </a:rPr>
              <a:t>2</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7D6"/>
        </a:solidFill>
      </p:bgPr>
    </p:bg>
    <p:spTree>
      <p:nvGrpSpPr>
        <p:cNvPr id="1" name=""/>
        <p:cNvGrpSpPr/>
        <p:nvPr/>
      </p:nvGrpSpPr>
      <p:grpSpPr>
        <a:xfrm>
          <a:off x="0" y="0"/>
          <a:ext cx="0" cy="0"/>
          <a:chOff x="0" y="0"/>
          <a:chExt cx="0" cy="0"/>
        </a:xfrm>
      </p:grpSpPr>
      <p:sp>
        <p:nvSpPr>
          <p:cNvPr name="Freeform 2" id="2"/>
          <p:cNvSpPr/>
          <p:nvPr/>
        </p:nvSpPr>
        <p:spPr>
          <a:xfrm flipH="false" flipV="false" rot="0">
            <a:off x="610999" y="2264140"/>
            <a:ext cx="4116190" cy="6801753"/>
          </a:xfrm>
          <a:custGeom>
            <a:avLst/>
            <a:gdLst/>
            <a:ahLst/>
            <a:cxnLst/>
            <a:rect r="r" b="b" t="t" l="l"/>
            <a:pathLst>
              <a:path h="6801753" w="4116190">
                <a:moveTo>
                  <a:pt x="0" y="0"/>
                </a:moveTo>
                <a:lnTo>
                  <a:pt x="4116191" y="0"/>
                </a:lnTo>
                <a:lnTo>
                  <a:pt x="4116191" y="6801753"/>
                </a:lnTo>
                <a:lnTo>
                  <a:pt x="0" y="6801753"/>
                </a:lnTo>
                <a:lnTo>
                  <a:pt x="0" y="0"/>
                </a:lnTo>
                <a:close/>
              </a:path>
            </a:pathLst>
          </a:custGeom>
          <a:blipFill>
            <a:blip r:embed="rId2"/>
            <a:stretch>
              <a:fillRect l="0" t="0" r="0" b="0"/>
            </a:stretch>
          </a:blipFill>
        </p:spPr>
      </p:sp>
      <p:sp>
        <p:nvSpPr>
          <p:cNvPr name="Freeform 3" id="3"/>
          <p:cNvSpPr/>
          <p:nvPr/>
        </p:nvSpPr>
        <p:spPr>
          <a:xfrm flipH="false" flipV="false" rot="0">
            <a:off x="11201052" y="4264086"/>
            <a:ext cx="6058248" cy="492233"/>
          </a:xfrm>
          <a:custGeom>
            <a:avLst/>
            <a:gdLst/>
            <a:ahLst/>
            <a:cxnLst/>
            <a:rect r="r" b="b" t="t" l="l"/>
            <a:pathLst>
              <a:path h="492233" w="6058248">
                <a:moveTo>
                  <a:pt x="0" y="0"/>
                </a:moveTo>
                <a:lnTo>
                  <a:pt x="6058248" y="0"/>
                </a:lnTo>
                <a:lnTo>
                  <a:pt x="6058248" y="492233"/>
                </a:lnTo>
                <a:lnTo>
                  <a:pt x="0" y="492233"/>
                </a:lnTo>
                <a:lnTo>
                  <a:pt x="0" y="0"/>
                </a:lnTo>
                <a:close/>
              </a:path>
            </a:pathLst>
          </a:custGeom>
          <a:blipFill>
            <a:blip r:embed="rId3"/>
            <a:stretch>
              <a:fillRect l="0" t="0" r="0" b="0"/>
            </a:stretch>
          </a:blipFill>
        </p:spPr>
      </p:sp>
      <p:sp>
        <p:nvSpPr>
          <p:cNvPr name="Freeform 4" id="4"/>
          <p:cNvSpPr/>
          <p:nvPr/>
        </p:nvSpPr>
        <p:spPr>
          <a:xfrm flipH="false" flipV="false" rot="0">
            <a:off x="11201052" y="5230558"/>
            <a:ext cx="3864675" cy="868918"/>
          </a:xfrm>
          <a:custGeom>
            <a:avLst/>
            <a:gdLst/>
            <a:ahLst/>
            <a:cxnLst/>
            <a:rect r="r" b="b" t="t" l="l"/>
            <a:pathLst>
              <a:path h="868918" w="3864675">
                <a:moveTo>
                  <a:pt x="0" y="0"/>
                </a:moveTo>
                <a:lnTo>
                  <a:pt x="3864676" y="0"/>
                </a:lnTo>
                <a:lnTo>
                  <a:pt x="3864676" y="868918"/>
                </a:lnTo>
                <a:lnTo>
                  <a:pt x="0" y="868918"/>
                </a:lnTo>
                <a:lnTo>
                  <a:pt x="0" y="0"/>
                </a:lnTo>
                <a:close/>
              </a:path>
            </a:pathLst>
          </a:custGeom>
          <a:blipFill>
            <a:blip r:embed="rId4"/>
            <a:stretch>
              <a:fillRect l="0" t="-3924" r="0" b="-3924"/>
            </a:stretch>
          </a:blipFill>
        </p:spPr>
      </p:sp>
      <p:sp>
        <p:nvSpPr>
          <p:cNvPr name="Freeform 5" id="5"/>
          <p:cNvSpPr/>
          <p:nvPr/>
        </p:nvSpPr>
        <p:spPr>
          <a:xfrm flipH="false" flipV="false" rot="0">
            <a:off x="11201052" y="7089502"/>
            <a:ext cx="6681239" cy="786537"/>
          </a:xfrm>
          <a:custGeom>
            <a:avLst/>
            <a:gdLst/>
            <a:ahLst/>
            <a:cxnLst/>
            <a:rect r="r" b="b" t="t" l="l"/>
            <a:pathLst>
              <a:path h="786537" w="6681239">
                <a:moveTo>
                  <a:pt x="0" y="0"/>
                </a:moveTo>
                <a:lnTo>
                  <a:pt x="6681240" y="0"/>
                </a:lnTo>
                <a:lnTo>
                  <a:pt x="6681240" y="786537"/>
                </a:lnTo>
                <a:lnTo>
                  <a:pt x="0" y="786537"/>
                </a:lnTo>
                <a:lnTo>
                  <a:pt x="0" y="0"/>
                </a:lnTo>
                <a:close/>
              </a:path>
            </a:pathLst>
          </a:custGeom>
          <a:blipFill>
            <a:blip r:embed="rId5"/>
            <a:stretch>
              <a:fillRect l="0" t="0" r="0" b="0"/>
            </a:stretch>
          </a:blipFill>
        </p:spPr>
      </p:sp>
      <p:sp>
        <p:nvSpPr>
          <p:cNvPr name="Freeform 6" id="6"/>
          <p:cNvSpPr/>
          <p:nvPr/>
        </p:nvSpPr>
        <p:spPr>
          <a:xfrm flipH="false" flipV="false" rot="0">
            <a:off x="11201052" y="8037964"/>
            <a:ext cx="6899428" cy="1220336"/>
          </a:xfrm>
          <a:custGeom>
            <a:avLst/>
            <a:gdLst/>
            <a:ahLst/>
            <a:cxnLst/>
            <a:rect r="r" b="b" t="t" l="l"/>
            <a:pathLst>
              <a:path h="1220336" w="6899428">
                <a:moveTo>
                  <a:pt x="0" y="0"/>
                </a:moveTo>
                <a:lnTo>
                  <a:pt x="6899428" y="0"/>
                </a:lnTo>
                <a:lnTo>
                  <a:pt x="6899428" y="1220336"/>
                </a:lnTo>
                <a:lnTo>
                  <a:pt x="0" y="1220336"/>
                </a:lnTo>
                <a:lnTo>
                  <a:pt x="0" y="0"/>
                </a:lnTo>
                <a:close/>
              </a:path>
            </a:pathLst>
          </a:custGeom>
          <a:blipFill>
            <a:blip r:embed="rId6"/>
            <a:stretch>
              <a:fillRect l="0" t="0" r="0" b="0"/>
            </a:stretch>
          </a:blipFill>
        </p:spPr>
      </p:sp>
      <p:sp>
        <p:nvSpPr>
          <p:cNvPr name="TextBox 7" id="7"/>
          <p:cNvSpPr txBox="true"/>
          <p:nvPr/>
        </p:nvSpPr>
        <p:spPr>
          <a:xfrm rot="0">
            <a:off x="610999" y="1097951"/>
            <a:ext cx="10238274" cy="567524"/>
          </a:xfrm>
          <a:prstGeom prst="rect">
            <a:avLst/>
          </a:prstGeom>
        </p:spPr>
        <p:txBody>
          <a:bodyPr anchor="t" rtlCol="false" tIns="0" lIns="0" bIns="0" rIns="0">
            <a:spAutoFit/>
          </a:bodyPr>
          <a:lstStyle/>
          <a:p>
            <a:pPr algn="just">
              <a:lnSpc>
                <a:spcPts val="4139"/>
              </a:lnSpc>
            </a:pPr>
            <a:r>
              <a:rPr lang="en-US" b="true" sz="4499">
                <a:solidFill>
                  <a:srgbClr val="000000"/>
                </a:solidFill>
                <a:latin typeface="DM Sans Bold"/>
                <a:ea typeface="DM Sans Bold"/>
                <a:cs typeface="DM Sans Bold"/>
                <a:sym typeface="DM Sans Bold"/>
              </a:rPr>
              <a:t>Implementación 1: Modificabilidad</a:t>
            </a:r>
          </a:p>
        </p:txBody>
      </p:sp>
      <p:sp>
        <p:nvSpPr>
          <p:cNvPr name="TextBox 8" id="8"/>
          <p:cNvSpPr txBox="true"/>
          <p:nvPr/>
        </p:nvSpPr>
        <p:spPr>
          <a:xfrm rot="0">
            <a:off x="4967656" y="4962329"/>
            <a:ext cx="5732594" cy="1531040"/>
          </a:xfrm>
          <a:prstGeom prst="rect">
            <a:avLst/>
          </a:prstGeom>
        </p:spPr>
        <p:txBody>
          <a:bodyPr anchor="t" rtlCol="false" tIns="0" lIns="0" bIns="0" rIns="0">
            <a:spAutoFit/>
          </a:bodyPr>
          <a:lstStyle/>
          <a:p>
            <a:pPr algn="just">
              <a:lnSpc>
                <a:spcPts val="2099"/>
              </a:lnSpc>
            </a:pPr>
            <a:r>
              <a:rPr lang="en-US" sz="1499">
                <a:solidFill>
                  <a:srgbClr val="000000"/>
                </a:solidFill>
                <a:latin typeface="DM Sans"/>
                <a:ea typeface="DM Sans"/>
                <a:cs typeface="DM Sans"/>
                <a:sym typeface="DM Sans"/>
              </a:rPr>
              <a:t>Al tener todo en el mismo archivo se dificulta el poder corregir los errores ya que un error se puede extender a mas archivos y romper el funcionamiento del sistema, es mas complicado de aislar componentes para poder probarlos, y también es mucho mas complicado añadirle funcionlidades si aumentan los requerimientos.</a:t>
            </a:r>
          </a:p>
        </p:txBody>
      </p:sp>
      <p:sp>
        <p:nvSpPr>
          <p:cNvPr name="TextBox 9" id="9"/>
          <p:cNvSpPr txBox="true"/>
          <p:nvPr/>
        </p:nvSpPr>
        <p:spPr>
          <a:xfrm rot="0">
            <a:off x="4967656" y="2386526"/>
            <a:ext cx="5732594" cy="2051928"/>
          </a:xfrm>
          <a:prstGeom prst="rect">
            <a:avLst/>
          </a:prstGeom>
        </p:spPr>
        <p:txBody>
          <a:bodyPr anchor="t" rtlCol="false" tIns="0" lIns="0" bIns="0" rIns="0">
            <a:spAutoFit/>
          </a:bodyPr>
          <a:lstStyle/>
          <a:p>
            <a:pPr algn="just">
              <a:lnSpc>
                <a:spcPts val="2057"/>
              </a:lnSpc>
            </a:pPr>
            <a:r>
              <a:rPr lang="en-US" sz="1700" b="true">
                <a:solidFill>
                  <a:srgbClr val="000000"/>
                </a:solidFill>
                <a:latin typeface="DM Sans Bold"/>
                <a:ea typeface="DM Sans Bold"/>
                <a:cs typeface="DM Sans Bold"/>
                <a:sym typeface="DM Sans Bold"/>
              </a:rPr>
              <a:t>Antes de la implementación, todos los archivos relacionados con el juego como los niveles, los puntajes y el código del juego se encontraban dentro de una misma carpeta que contenía 44 archivos, todos en la carpeta raíz del proyecto, lo que ocasionaba varios problemas como:</a:t>
            </a:r>
          </a:p>
          <a:p>
            <a:pPr algn="just">
              <a:lnSpc>
                <a:spcPts val="2057"/>
              </a:lnSpc>
            </a:pPr>
          </a:p>
          <a:p>
            <a:pPr algn="just">
              <a:lnSpc>
                <a:spcPts val="2057"/>
              </a:lnSpc>
            </a:pPr>
          </a:p>
        </p:txBody>
      </p:sp>
      <p:sp>
        <p:nvSpPr>
          <p:cNvPr name="TextBox 10" id="10"/>
          <p:cNvSpPr txBox="true"/>
          <p:nvPr/>
        </p:nvSpPr>
        <p:spPr>
          <a:xfrm rot="0">
            <a:off x="4967656" y="6617195"/>
            <a:ext cx="4985582" cy="270786"/>
          </a:xfrm>
          <a:prstGeom prst="rect">
            <a:avLst/>
          </a:prstGeom>
        </p:spPr>
        <p:txBody>
          <a:bodyPr anchor="t" rtlCol="false" tIns="0" lIns="0" bIns="0" rIns="0">
            <a:spAutoFit/>
          </a:bodyPr>
          <a:lstStyle/>
          <a:p>
            <a:pPr algn="just">
              <a:lnSpc>
                <a:spcPts val="2239"/>
              </a:lnSpc>
            </a:pPr>
            <a:r>
              <a:rPr lang="en-US" b="true" sz="1599">
                <a:solidFill>
                  <a:srgbClr val="000000"/>
                </a:solidFill>
                <a:latin typeface="DM Sans Bold"/>
                <a:ea typeface="DM Sans Bold"/>
                <a:cs typeface="DM Sans Bold"/>
                <a:sym typeface="DM Sans Bold"/>
              </a:rPr>
              <a:t>SOLUCIÓN</a:t>
            </a:r>
          </a:p>
        </p:txBody>
      </p:sp>
      <p:sp>
        <p:nvSpPr>
          <p:cNvPr name="TextBox 11" id="11"/>
          <p:cNvSpPr txBox="true"/>
          <p:nvPr/>
        </p:nvSpPr>
        <p:spPr>
          <a:xfrm rot="0">
            <a:off x="4967656" y="3987290"/>
            <a:ext cx="3915501" cy="1193993"/>
          </a:xfrm>
          <a:prstGeom prst="rect">
            <a:avLst/>
          </a:prstGeom>
        </p:spPr>
        <p:txBody>
          <a:bodyPr anchor="t" rtlCol="false" tIns="0" lIns="0" bIns="0" rIns="0">
            <a:spAutoFit/>
          </a:bodyPr>
          <a:lstStyle/>
          <a:p>
            <a:pPr algn="just" marL="302259" indent="-151129" lvl="1">
              <a:lnSpc>
                <a:spcPts val="1959"/>
              </a:lnSpc>
              <a:buFont typeface="Arial"/>
              <a:buChar char="•"/>
            </a:pPr>
            <a:r>
              <a:rPr lang="en-US" sz="1399">
                <a:solidFill>
                  <a:srgbClr val="000000"/>
                </a:solidFill>
                <a:latin typeface="DM Sans"/>
                <a:ea typeface="DM Sans"/>
                <a:cs typeface="DM Sans"/>
                <a:sym typeface="DM Sans"/>
              </a:rPr>
              <a:t>Dificultad para encontrar archivos</a:t>
            </a:r>
          </a:p>
          <a:p>
            <a:pPr algn="just" marL="302259" indent="-151129" lvl="1">
              <a:lnSpc>
                <a:spcPts val="1959"/>
              </a:lnSpc>
              <a:buFont typeface="Arial"/>
              <a:buChar char="•"/>
            </a:pPr>
            <a:r>
              <a:rPr lang="en-US" sz="1399">
                <a:solidFill>
                  <a:srgbClr val="000000"/>
                </a:solidFill>
                <a:latin typeface="DM Sans"/>
                <a:ea typeface="DM Sans"/>
                <a:cs typeface="DM Sans"/>
                <a:sym typeface="DM Sans"/>
              </a:rPr>
              <a:t>Sin separación de código y recursos</a:t>
            </a:r>
          </a:p>
          <a:p>
            <a:pPr algn="just" marL="302259" indent="-151129" lvl="1">
              <a:lnSpc>
                <a:spcPts val="1959"/>
              </a:lnSpc>
              <a:buFont typeface="Arial"/>
              <a:buChar char="•"/>
            </a:pPr>
            <a:r>
              <a:rPr lang="en-US" sz="1399">
                <a:solidFill>
                  <a:srgbClr val="000000"/>
                </a:solidFill>
                <a:latin typeface="DM Sans"/>
                <a:ea typeface="DM Sans"/>
                <a:cs typeface="DM Sans"/>
                <a:sym typeface="DM Sans"/>
              </a:rPr>
              <a:t>Dificultad al entender cada parte del proyecto</a:t>
            </a:r>
          </a:p>
          <a:p>
            <a:pPr algn="just">
              <a:lnSpc>
                <a:spcPts val="1959"/>
              </a:lnSpc>
            </a:pPr>
          </a:p>
        </p:txBody>
      </p:sp>
      <p:sp>
        <p:nvSpPr>
          <p:cNvPr name="TextBox 12" id="12"/>
          <p:cNvSpPr txBox="true"/>
          <p:nvPr/>
        </p:nvSpPr>
        <p:spPr>
          <a:xfrm rot="0">
            <a:off x="4967656" y="7021331"/>
            <a:ext cx="5732594" cy="2044562"/>
          </a:xfrm>
          <a:prstGeom prst="rect">
            <a:avLst/>
          </a:prstGeom>
        </p:spPr>
        <p:txBody>
          <a:bodyPr anchor="t" rtlCol="false" tIns="0" lIns="0" bIns="0" rIns="0">
            <a:spAutoFit/>
          </a:bodyPr>
          <a:lstStyle/>
          <a:p>
            <a:pPr algn="just">
              <a:lnSpc>
                <a:spcPts val="2099"/>
              </a:lnSpc>
            </a:pPr>
            <a:r>
              <a:rPr lang="en-US" sz="1499">
                <a:solidFill>
                  <a:srgbClr val="000000"/>
                </a:solidFill>
                <a:latin typeface="DM Sans"/>
                <a:ea typeface="DM Sans"/>
                <a:cs typeface="DM Sans"/>
                <a:sym typeface="DM Sans"/>
              </a:rPr>
              <a:t>Para solucionar este problema los 44 archivos se distribuyeron en carpetas segun el propósito y el código se reorganizó siguiendo el patrón MVC(Modelo Vista Controlador), un estándar para proyectos de software normalmente aplicado cuando se usan interfaces gráficas. Esta nueva estructura proporciona una separación clara de responsabilidades, lo que facilita agregar cambios, entender la estructura del código y el trabajo en equipo.</a:t>
            </a:r>
          </a:p>
        </p:txBody>
      </p:sp>
      <p:sp>
        <p:nvSpPr>
          <p:cNvPr name="TextBox 13" id="13"/>
          <p:cNvSpPr txBox="true"/>
          <p:nvPr/>
        </p:nvSpPr>
        <p:spPr>
          <a:xfrm rot="0">
            <a:off x="11201052" y="2420274"/>
            <a:ext cx="4985582" cy="270786"/>
          </a:xfrm>
          <a:prstGeom prst="rect">
            <a:avLst/>
          </a:prstGeom>
        </p:spPr>
        <p:txBody>
          <a:bodyPr anchor="t" rtlCol="false" tIns="0" lIns="0" bIns="0" rIns="0">
            <a:spAutoFit/>
          </a:bodyPr>
          <a:lstStyle/>
          <a:p>
            <a:pPr algn="l">
              <a:lnSpc>
                <a:spcPts val="2239"/>
              </a:lnSpc>
            </a:pPr>
            <a:r>
              <a:rPr lang="en-US" b="true" sz="1599">
                <a:solidFill>
                  <a:srgbClr val="000000"/>
                </a:solidFill>
                <a:latin typeface="DM Sans Bold"/>
                <a:ea typeface="DM Sans Bold"/>
                <a:cs typeface="DM Sans Bold"/>
                <a:sym typeface="DM Sans Bold"/>
              </a:rPr>
              <a:t>CAMBIOS EN EL CÓDIGO</a:t>
            </a:r>
          </a:p>
        </p:txBody>
      </p:sp>
      <p:sp>
        <p:nvSpPr>
          <p:cNvPr name="TextBox 14" id="14"/>
          <p:cNvSpPr txBox="true"/>
          <p:nvPr/>
        </p:nvSpPr>
        <p:spPr>
          <a:xfrm rot="0">
            <a:off x="11201052" y="2820873"/>
            <a:ext cx="5732594" cy="4619625"/>
          </a:xfrm>
          <a:prstGeom prst="rect">
            <a:avLst/>
          </a:prstGeom>
        </p:spPr>
        <p:txBody>
          <a:bodyPr anchor="t" rtlCol="false" tIns="0" lIns="0" bIns="0" rIns="0">
            <a:spAutoFit/>
          </a:bodyPr>
          <a:lstStyle/>
          <a:p>
            <a:pPr algn="just">
              <a:lnSpc>
                <a:spcPts val="2099"/>
              </a:lnSpc>
            </a:pPr>
            <a:r>
              <a:rPr lang="en-US" sz="1499">
                <a:solidFill>
                  <a:srgbClr val="000000"/>
                </a:solidFill>
                <a:latin typeface="DM Sans"/>
                <a:ea typeface="DM Sans"/>
                <a:cs typeface="DM Sans"/>
                <a:sym typeface="DM Sans"/>
              </a:rPr>
              <a:t>Se cambiaron rutas del código, pasaron de ser absolutas al sistema de archivos a relativas al classpath(ruta de busqueda de la VM de Java)</a:t>
            </a:r>
          </a:p>
          <a:p>
            <a:pPr algn="just">
              <a:lnSpc>
                <a:spcPts val="2099"/>
              </a:lnSpc>
            </a:pPr>
          </a:p>
          <a:p>
            <a:pPr algn="just">
              <a:lnSpc>
                <a:spcPts val="2099"/>
              </a:lnSpc>
            </a:pPr>
            <a:r>
              <a:rPr lang="en-US" sz="1499" b="true">
                <a:solidFill>
                  <a:srgbClr val="000000"/>
                </a:solidFill>
                <a:latin typeface="DM Sans Bold"/>
                <a:ea typeface="DM Sans Bold"/>
                <a:cs typeface="DM Sans Bold"/>
                <a:sym typeface="DM Sans Bold"/>
              </a:rPr>
              <a:t>En la clase GameGui:</a:t>
            </a:r>
          </a:p>
          <a:p>
            <a:pPr algn="just">
              <a:lnSpc>
                <a:spcPts val="2099"/>
              </a:lnSpc>
            </a:pPr>
          </a:p>
          <a:p>
            <a:pPr algn="just">
              <a:lnSpc>
                <a:spcPts val="2099"/>
              </a:lnSpc>
            </a:pPr>
          </a:p>
          <a:p>
            <a:pPr algn="just">
              <a:lnSpc>
                <a:spcPts val="2099"/>
              </a:lnSpc>
            </a:pPr>
          </a:p>
          <a:p>
            <a:pPr algn="just">
              <a:lnSpc>
                <a:spcPts val="2099"/>
              </a:lnSpc>
            </a:pPr>
            <a:r>
              <a:rPr lang="en-US" sz="1499" b="true">
                <a:solidFill>
                  <a:srgbClr val="000000"/>
                </a:solidFill>
                <a:latin typeface="DM Sans Bold"/>
                <a:ea typeface="DM Sans Bold"/>
                <a:cs typeface="DM Sans Bold"/>
                <a:sym typeface="DM Sans Bold"/>
              </a:rPr>
              <a:t>Uso:</a:t>
            </a:r>
          </a:p>
          <a:p>
            <a:pPr algn="just">
              <a:lnSpc>
                <a:spcPts val="2099"/>
              </a:lnSpc>
            </a:pPr>
          </a:p>
          <a:p>
            <a:pPr algn="just">
              <a:lnSpc>
                <a:spcPts val="2099"/>
              </a:lnSpc>
            </a:pPr>
          </a:p>
          <a:p>
            <a:pPr algn="just">
              <a:lnSpc>
                <a:spcPts val="2099"/>
              </a:lnSpc>
            </a:pPr>
          </a:p>
          <a:p>
            <a:pPr algn="just">
              <a:lnSpc>
                <a:spcPts val="2099"/>
              </a:lnSpc>
            </a:pPr>
          </a:p>
          <a:p>
            <a:pPr algn="just">
              <a:lnSpc>
                <a:spcPts val="2099"/>
              </a:lnSpc>
            </a:pPr>
          </a:p>
          <a:p>
            <a:pPr algn="just">
              <a:lnSpc>
                <a:spcPts val="2099"/>
              </a:lnSpc>
            </a:pPr>
            <a:r>
              <a:rPr lang="en-US" sz="1499" b="true">
                <a:solidFill>
                  <a:srgbClr val="000000"/>
                </a:solidFill>
                <a:latin typeface="DM Sans Bold"/>
                <a:ea typeface="DM Sans Bold"/>
                <a:cs typeface="DM Sans Bold"/>
                <a:sym typeface="DM Sans Bold"/>
              </a:rPr>
              <a:t>Segundo cambio: En las clases GameGui y MazeObject Para las imagenes .png y el ícono "yeababyyea.jpg"</a:t>
            </a:r>
          </a:p>
          <a:p>
            <a:pPr algn="just">
              <a:lnSpc>
                <a:spcPts val="2099"/>
              </a:lnSpc>
            </a:pPr>
          </a:p>
          <a:p>
            <a:pPr algn="just">
              <a:lnSpc>
                <a:spcPts val="209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7D6"/>
        </a:solidFill>
      </p:bgPr>
    </p:bg>
    <p:spTree>
      <p:nvGrpSpPr>
        <p:cNvPr id="1" name=""/>
        <p:cNvGrpSpPr/>
        <p:nvPr/>
      </p:nvGrpSpPr>
      <p:grpSpPr>
        <a:xfrm>
          <a:off x="0" y="0"/>
          <a:ext cx="0" cy="0"/>
          <a:chOff x="0" y="0"/>
          <a:chExt cx="0" cy="0"/>
        </a:xfrm>
      </p:grpSpPr>
      <p:sp>
        <p:nvSpPr>
          <p:cNvPr name="Freeform 2" id="2"/>
          <p:cNvSpPr/>
          <p:nvPr/>
        </p:nvSpPr>
        <p:spPr>
          <a:xfrm flipH="false" flipV="false" rot="0">
            <a:off x="11065601" y="0"/>
            <a:ext cx="7222399" cy="5501437"/>
          </a:xfrm>
          <a:custGeom>
            <a:avLst/>
            <a:gdLst/>
            <a:ahLst/>
            <a:cxnLst/>
            <a:rect r="r" b="b" t="t" l="l"/>
            <a:pathLst>
              <a:path h="5501437" w="7222399">
                <a:moveTo>
                  <a:pt x="0" y="0"/>
                </a:moveTo>
                <a:lnTo>
                  <a:pt x="7222399" y="0"/>
                </a:lnTo>
                <a:lnTo>
                  <a:pt x="7222399" y="5501437"/>
                </a:lnTo>
                <a:lnTo>
                  <a:pt x="0" y="5501437"/>
                </a:lnTo>
                <a:lnTo>
                  <a:pt x="0" y="0"/>
                </a:lnTo>
                <a:close/>
              </a:path>
            </a:pathLst>
          </a:custGeom>
          <a:blipFill>
            <a:blip r:embed="rId2"/>
            <a:stretch>
              <a:fillRect l="0" t="0" r="0" b="0"/>
            </a:stretch>
          </a:blipFill>
        </p:spPr>
      </p:sp>
      <p:sp>
        <p:nvSpPr>
          <p:cNvPr name="Freeform 3" id="3"/>
          <p:cNvSpPr/>
          <p:nvPr/>
        </p:nvSpPr>
        <p:spPr>
          <a:xfrm flipH="false" flipV="false" rot="0">
            <a:off x="4750936" y="4813343"/>
            <a:ext cx="7684508" cy="5473657"/>
          </a:xfrm>
          <a:custGeom>
            <a:avLst/>
            <a:gdLst/>
            <a:ahLst/>
            <a:cxnLst/>
            <a:rect r="r" b="b" t="t" l="l"/>
            <a:pathLst>
              <a:path h="5473657" w="7684508">
                <a:moveTo>
                  <a:pt x="0" y="0"/>
                </a:moveTo>
                <a:lnTo>
                  <a:pt x="7684508" y="0"/>
                </a:lnTo>
                <a:lnTo>
                  <a:pt x="7684508" y="5473657"/>
                </a:lnTo>
                <a:lnTo>
                  <a:pt x="0" y="5473657"/>
                </a:lnTo>
                <a:lnTo>
                  <a:pt x="0" y="0"/>
                </a:lnTo>
                <a:close/>
              </a:path>
            </a:pathLst>
          </a:custGeom>
          <a:blipFill>
            <a:blip r:embed="rId3"/>
            <a:stretch>
              <a:fillRect l="0" t="-5224" r="0" b="-5224"/>
            </a:stretch>
          </a:blipFill>
        </p:spPr>
      </p:sp>
      <p:sp>
        <p:nvSpPr>
          <p:cNvPr name="TextBox 4" id="4"/>
          <p:cNvSpPr txBox="true"/>
          <p:nvPr/>
        </p:nvSpPr>
        <p:spPr>
          <a:xfrm rot="0">
            <a:off x="586433" y="688336"/>
            <a:ext cx="8329005" cy="1617345"/>
          </a:xfrm>
          <a:prstGeom prst="rect">
            <a:avLst/>
          </a:prstGeom>
        </p:spPr>
        <p:txBody>
          <a:bodyPr anchor="t" rtlCol="false" tIns="0" lIns="0" bIns="0" rIns="0">
            <a:spAutoFit/>
          </a:bodyPr>
          <a:lstStyle/>
          <a:p>
            <a:pPr algn="just">
              <a:lnSpc>
                <a:spcPts val="4140"/>
              </a:lnSpc>
            </a:pPr>
            <a:r>
              <a:rPr lang="en-US" b="true" sz="4500">
                <a:solidFill>
                  <a:srgbClr val="000000"/>
                </a:solidFill>
                <a:latin typeface="DM Sans Bold"/>
                <a:ea typeface="DM Sans Bold"/>
                <a:cs typeface="DM Sans Bold"/>
                <a:sym typeface="DM Sans Bold"/>
              </a:rPr>
              <a:t>Implementación 2: Refactorización con patrón Singleton  </a:t>
            </a:r>
          </a:p>
        </p:txBody>
      </p:sp>
      <p:sp>
        <p:nvSpPr>
          <p:cNvPr name="TextBox 5" id="5"/>
          <p:cNvSpPr txBox="true"/>
          <p:nvPr/>
        </p:nvSpPr>
        <p:spPr>
          <a:xfrm rot="0">
            <a:off x="4750936" y="2961977"/>
            <a:ext cx="4840883" cy="1166495"/>
          </a:xfrm>
          <a:prstGeom prst="rect">
            <a:avLst/>
          </a:prstGeom>
        </p:spPr>
        <p:txBody>
          <a:bodyPr anchor="t" rtlCol="false" tIns="0" lIns="0" bIns="0" rIns="0">
            <a:spAutoFit/>
          </a:bodyPr>
          <a:lstStyle/>
          <a:p>
            <a:pPr algn="l">
              <a:lnSpc>
                <a:spcPts val="2380"/>
              </a:lnSpc>
            </a:pPr>
            <a:r>
              <a:rPr lang="en-US" sz="1700">
                <a:solidFill>
                  <a:srgbClr val="000000"/>
                </a:solidFill>
                <a:latin typeface="DM Sans"/>
                <a:ea typeface="DM Sans"/>
                <a:cs typeface="DM Sans"/>
                <a:sym typeface="DM Sans"/>
              </a:rPr>
              <a:t>La clase TimeKeeper permitía múltiples instancias, vulnerando la integridad de los datos y eso por buenas prácticas de programación no es recomendable </a:t>
            </a:r>
          </a:p>
        </p:txBody>
      </p:sp>
      <p:sp>
        <p:nvSpPr>
          <p:cNvPr name="TextBox 6" id="6"/>
          <p:cNvSpPr txBox="true"/>
          <p:nvPr/>
        </p:nvSpPr>
        <p:spPr>
          <a:xfrm rot="0">
            <a:off x="12969126" y="6492219"/>
            <a:ext cx="4840883" cy="1600200"/>
          </a:xfrm>
          <a:prstGeom prst="rect">
            <a:avLst/>
          </a:prstGeom>
        </p:spPr>
        <p:txBody>
          <a:bodyPr anchor="t" rtlCol="false" tIns="0" lIns="0" bIns="0" rIns="0">
            <a:spAutoFit/>
          </a:bodyPr>
          <a:lstStyle/>
          <a:p>
            <a:pPr algn="l">
              <a:lnSpc>
                <a:spcPts val="2100"/>
              </a:lnSpc>
            </a:pPr>
            <a:r>
              <a:rPr lang="en-US" sz="1500">
                <a:solidFill>
                  <a:srgbClr val="000000"/>
                </a:solidFill>
                <a:latin typeface="DM Sans"/>
                <a:ea typeface="DM Sans"/>
                <a:cs typeface="DM Sans"/>
                <a:sym typeface="DM Sans"/>
              </a:rPr>
              <a:t>Para solucionar este problema se implementó el Patrón Singleton:</a:t>
            </a:r>
          </a:p>
          <a:p>
            <a:pPr algn="l">
              <a:lnSpc>
                <a:spcPts val="2100"/>
              </a:lnSpc>
            </a:pPr>
            <a:r>
              <a:rPr lang="en-US" sz="1500">
                <a:solidFill>
                  <a:srgbClr val="000000"/>
                </a:solidFill>
                <a:latin typeface="DM Sans"/>
                <a:ea typeface="DM Sans"/>
                <a:cs typeface="DM Sans"/>
                <a:sym typeface="DM Sans"/>
              </a:rPr>
              <a:t>• atributos encapsulados ( prívate)</a:t>
            </a:r>
          </a:p>
          <a:p>
            <a:pPr algn="l">
              <a:lnSpc>
                <a:spcPts val="2100"/>
              </a:lnSpc>
            </a:pPr>
            <a:r>
              <a:rPr lang="en-US" sz="1500">
                <a:solidFill>
                  <a:srgbClr val="000000"/>
                </a:solidFill>
                <a:latin typeface="DM Sans"/>
                <a:ea typeface="DM Sans"/>
                <a:cs typeface="DM Sans"/>
                <a:sym typeface="DM Sans"/>
              </a:rPr>
              <a:t>• Constructores privados para bloquear así la creación libre </a:t>
            </a:r>
          </a:p>
          <a:p>
            <a:pPr algn="l">
              <a:lnSpc>
                <a:spcPts val="2100"/>
              </a:lnSpc>
            </a:pPr>
            <a:r>
              <a:rPr lang="en-US" sz="1500">
                <a:solidFill>
                  <a:srgbClr val="000000"/>
                </a:solidFill>
                <a:latin typeface="DM Sans"/>
                <a:ea typeface="DM Sans"/>
                <a:cs typeface="DM Sans"/>
                <a:sym typeface="DM Sans"/>
              </a:rPr>
              <a:t>• Un método global en este caso getInstance()</a:t>
            </a:r>
          </a:p>
        </p:txBody>
      </p:sp>
      <p:sp>
        <p:nvSpPr>
          <p:cNvPr name="TextBox 7" id="7"/>
          <p:cNvSpPr txBox="true"/>
          <p:nvPr/>
        </p:nvSpPr>
        <p:spPr>
          <a:xfrm rot="0">
            <a:off x="0" y="7273269"/>
            <a:ext cx="4840883" cy="2133600"/>
          </a:xfrm>
          <a:prstGeom prst="rect">
            <a:avLst/>
          </a:prstGeom>
        </p:spPr>
        <p:txBody>
          <a:bodyPr anchor="t" rtlCol="false" tIns="0" lIns="0" bIns="0" rIns="0">
            <a:spAutoFit/>
          </a:bodyPr>
          <a:lstStyle/>
          <a:p>
            <a:pPr algn="l">
              <a:lnSpc>
                <a:spcPts val="2100"/>
              </a:lnSpc>
            </a:pPr>
            <a:r>
              <a:rPr lang="en-US" sz="1500">
                <a:solidFill>
                  <a:srgbClr val="000000"/>
                </a:solidFill>
                <a:latin typeface="DM Sans"/>
                <a:ea typeface="DM Sans"/>
                <a:cs typeface="DM Sans"/>
                <a:sym typeface="DM Sans"/>
              </a:rPr>
              <a:t>Para el impacto de Calidad: Garantiza una instancia global única para la gestión de tiempo, optimizando el uso de memoria y reduciendo el acoplamiento entre módulos. Al igual se remplazó la llamada fuertemente acoplada en GameGui a new TimeKeeper() y se implementaron nuevos botones KeyEvent.VK_W⁠, ⁠VK_A⁠, ⁠VK_S⁠ y ⁠VK_D</a:t>
            </a:r>
          </a:p>
          <a:p>
            <a:pPr algn="l">
              <a:lnSpc>
                <a:spcPts val="2100"/>
              </a:lnSpc>
            </a:pP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FF7D6"/>
        </a:solidFill>
      </p:bgPr>
    </p:bg>
    <p:spTree>
      <p:nvGrpSpPr>
        <p:cNvPr id="1" name=""/>
        <p:cNvGrpSpPr/>
        <p:nvPr/>
      </p:nvGrpSpPr>
      <p:grpSpPr>
        <a:xfrm>
          <a:off x="0" y="0"/>
          <a:ext cx="0" cy="0"/>
          <a:chOff x="0" y="0"/>
          <a:chExt cx="0" cy="0"/>
        </a:xfrm>
      </p:grpSpPr>
      <p:sp>
        <p:nvSpPr>
          <p:cNvPr name="TextBox 2" id="2"/>
          <p:cNvSpPr txBox="true"/>
          <p:nvPr/>
        </p:nvSpPr>
        <p:spPr>
          <a:xfrm rot="0">
            <a:off x="1059663" y="1004680"/>
            <a:ext cx="10427109" cy="567524"/>
          </a:xfrm>
          <a:prstGeom prst="rect">
            <a:avLst/>
          </a:prstGeom>
        </p:spPr>
        <p:txBody>
          <a:bodyPr anchor="t" rtlCol="false" tIns="0" lIns="0" bIns="0" rIns="0">
            <a:spAutoFit/>
          </a:bodyPr>
          <a:lstStyle/>
          <a:p>
            <a:pPr algn="just">
              <a:lnSpc>
                <a:spcPts val="4140"/>
              </a:lnSpc>
            </a:pPr>
            <a:r>
              <a:rPr lang="en-US" b="true" sz="4500">
                <a:solidFill>
                  <a:srgbClr val="000000"/>
                </a:solidFill>
                <a:latin typeface="DM Sans Bold"/>
                <a:ea typeface="DM Sans Bold"/>
                <a:cs typeface="DM Sans Bold"/>
                <a:sym typeface="DM Sans Bold"/>
              </a:rPr>
              <a:t>Escenario de calidad: Mantenibilidad</a:t>
            </a:r>
          </a:p>
        </p:txBody>
      </p:sp>
      <p:sp>
        <p:nvSpPr>
          <p:cNvPr name="TextBox 3" id="3"/>
          <p:cNvSpPr txBox="true"/>
          <p:nvPr/>
        </p:nvSpPr>
        <p:spPr>
          <a:xfrm rot="0">
            <a:off x="1059663" y="9411115"/>
            <a:ext cx="771729" cy="239746"/>
          </a:xfrm>
          <a:prstGeom prst="rect">
            <a:avLst/>
          </a:prstGeom>
        </p:spPr>
        <p:txBody>
          <a:bodyPr anchor="t" rtlCol="false" tIns="0" lIns="0" bIns="0" rIns="0">
            <a:spAutoFit/>
          </a:bodyPr>
          <a:lstStyle/>
          <a:p>
            <a:pPr algn="l">
              <a:lnSpc>
                <a:spcPts val="2076"/>
              </a:lnSpc>
            </a:pPr>
            <a:r>
              <a:rPr lang="en-US" sz="1482" b="true">
                <a:solidFill>
                  <a:srgbClr val="000000"/>
                </a:solidFill>
                <a:latin typeface="DM Sans Bold"/>
                <a:ea typeface="DM Sans Bold"/>
                <a:cs typeface="DM Sans Bold"/>
                <a:sym typeface="DM Sans Bold"/>
              </a:rPr>
              <a:t>5</a:t>
            </a:r>
          </a:p>
        </p:txBody>
      </p:sp>
      <p:grpSp>
        <p:nvGrpSpPr>
          <p:cNvPr name="Group 4" id="4"/>
          <p:cNvGrpSpPr/>
          <p:nvPr/>
        </p:nvGrpSpPr>
        <p:grpSpPr>
          <a:xfrm rot="0">
            <a:off x="160674" y="2220396"/>
            <a:ext cx="2844341" cy="4105508"/>
            <a:chOff x="0" y="0"/>
            <a:chExt cx="1025573" cy="1480307"/>
          </a:xfrm>
        </p:grpSpPr>
        <p:sp>
          <p:nvSpPr>
            <p:cNvPr name="Freeform 5" id="5"/>
            <p:cNvSpPr/>
            <p:nvPr/>
          </p:nvSpPr>
          <p:spPr>
            <a:xfrm flipH="false" flipV="false" rot="0">
              <a:off x="0" y="0"/>
              <a:ext cx="1025573" cy="1480307"/>
            </a:xfrm>
            <a:custGeom>
              <a:avLst/>
              <a:gdLst/>
              <a:ahLst/>
              <a:cxnLst/>
              <a:rect r="r" b="b" t="t" l="l"/>
              <a:pathLst>
                <a:path h="1480307" w="1025573">
                  <a:moveTo>
                    <a:pt x="27219" y="0"/>
                  </a:moveTo>
                  <a:lnTo>
                    <a:pt x="998354" y="0"/>
                  </a:lnTo>
                  <a:cubicBezTo>
                    <a:pt x="1005573" y="0"/>
                    <a:pt x="1012496" y="2868"/>
                    <a:pt x="1017601" y="7972"/>
                  </a:cubicBezTo>
                  <a:cubicBezTo>
                    <a:pt x="1022705" y="13077"/>
                    <a:pt x="1025573" y="20000"/>
                    <a:pt x="1025573" y="27219"/>
                  </a:cubicBezTo>
                  <a:lnTo>
                    <a:pt x="1025573" y="1453089"/>
                  </a:lnTo>
                  <a:cubicBezTo>
                    <a:pt x="1025573" y="1460307"/>
                    <a:pt x="1022705" y="1467231"/>
                    <a:pt x="1017601" y="1472335"/>
                  </a:cubicBezTo>
                  <a:cubicBezTo>
                    <a:pt x="1012496" y="1477440"/>
                    <a:pt x="1005573" y="1480307"/>
                    <a:pt x="998354" y="1480307"/>
                  </a:cubicBezTo>
                  <a:lnTo>
                    <a:pt x="27219" y="1480307"/>
                  </a:lnTo>
                  <a:cubicBezTo>
                    <a:pt x="12186" y="1480307"/>
                    <a:pt x="0" y="1468121"/>
                    <a:pt x="0" y="1453089"/>
                  </a:cubicBezTo>
                  <a:lnTo>
                    <a:pt x="0" y="27219"/>
                  </a:lnTo>
                  <a:cubicBezTo>
                    <a:pt x="0" y="20000"/>
                    <a:pt x="2868" y="13077"/>
                    <a:pt x="7972" y="7972"/>
                  </a:cubicBezTo>
                  <a:cubicBezTo>
                    <a:pt x="13077" y="2868"/>
                    <a:pt x="20000" y="0"/>
                    <a:pt x="27219" y="0"/>
                  </a:cubicBezTo>
                  <a:close/>
                </a:path>
              </a:pathLst>
            </a:custGeom>
            <a:solidFill>
              <a:srgbClr val="F8E9A8"/>
            </a:solidFill>
            <a:ln w="38100" cap="sq">
              <a:solidFill>
                <a:srgbClr val="000000"/>
              </a:solidFill>
              <a:prstDash val="solid"/>
              <a:miter/>
            </a:ln>
          </p:spPr>
        </p:sp>
        <p:sp>
          <p:nvSpPr>
            <p:cNvPr name="TextBox 6" id="6"/>
            <p:cNvSpPr txBox="true"/>
            <p:nvPr/>
          </p:nvSpPr>
          <p:spPr>
            <a:xfrm>
              <a:off x="0" y="-38100"/>
              <a:ext cx="1025573" cy="15184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7" id="7"/>
          <p:cNvSpPr txBox="true"/>
          <p:nvPr/>
        </p:nvSpPr>
        <p:spPr>
          <a:xfrm rot="0">
            <a:off x="929104" y="2639360"/>
            <a:ext cx="1307481" cy="829090"/>
          </a:xfrm>
          <a:prstGeom prst="rect">
            <a:avLst/>
          </a:prstGeom>
        </p:spPr>
        <p:txBody>
          <a:bodyPr anchor="t" rtlCol="false" tIns="0" lIns="0" bIns="0" rIns="0">
            <a:spAutoFit/>
          </a:bodyPr>
          <a:lstStyle/>
          <a:p>
            <a:pPr algn="ctr" marL="0" indent="0" lvl="1">
              <a:lnSpc>
                <a:spcPts val="2152"/>
              </a:lnSpc>
            </a:pPr>
            <a:r>
              <a:rPr lang="en-US" b="true" sz="2391" spc="-59">
                <a:solidFill>
                  <a:srgbClr val="4F4A18"/>
                </a:solidFill>
                <a:latin typeface="Raleway Bold"/>
                <a:ea typeface="Raleway Bold"/>
                <a:cs typeface="Raleway Bold"/>
                <a:sym typeface="Raleway Bold"/>
              </a:rPr>
              <a:t>Fuente del estímulo</a:t>
            </a:r>
          </a:p>
        </p:txBody>
      </p:sp>
      <p:sp>
        <p:nvSpPr>
          <p:cNvPr name="TextBox 8" id="8"/>
          <p:cNvSpPr txBox="true"/>
          <p:nvPr/>
        </p:nvSpPr>
        <p:spPr>
          <a:xfrm rot="0">
            <a:off x="520261" y="3608752"/>
            <a:ext cx="2121380" cy="268859"/>
          </a:xfrm>
          <a:prstGeom prst="rect">
            <a:avLst/>
          </a:prstGeom>
        </p:spPr>
        <p:txBody>
          <a:bodyPr anchor="t" rtlCol="false" tIns="0" lIns="0" bIns="0" rIns="0">
            <a:spAutoFit/>
          </a:bodyPr>
          <a:lstStyle/>
          <a:p>
            <a:pPr algn="ctr" marL="0" indent="0" lvl="0">
              <a:lnSpc>
                <a:spcPts val="2128"/>
              </a:lnSpc>
            </a:pPr>
            <a:r>
              <a:rPr lang="en-US" b="true" sz="1600">
                <a:solidFill>
                  <a:srgbClr val="4F4A18"/>
                </a:solidFill>
                <a:latin typeface="Raleway Semi-Bold"/>
                <a:ea typeface="Raleway Semi-Bold"/>
                <a:cs typeface="Raleway Semi-Bold"/>
                <a:sym typeface="Raleway Semi-Bold"/>
              </a:rPr>
              <a:t>Equipo de desarrollo</a:t>
            </a:r>
          </a:p>
        </p:txBody>
      </p:sp>
      <p:grpSp>
        <p:nvGrpSpPr>
          <p:cNvPr name="Group 9" id="9"/>
          <p:cNvGrpSpPr/>
          <p:nvPr/>
        </p:nvGrpSpPr>
        <p:grpSpPr>
          <a:xfrm rot="0">
            <a:off x="3184567" y="2220396"/>
            <a:ext cx="2844341" cy="4105508"/>
            <a:chOff x="0" y="0"/>
            <a:chExt cx="1025573" cy="1480307"/>
          </a:xfrm>
        </p:grpSpPr>
        <p:sp>
          <p:nvSpPr>
            <p:cNvPr name="Freeform 10" id="10"/>
            <p:cNvSpPr/>
            <p:nvPr/>
          </p:nvSpPr>
          <p:spPr>
            <a:xfrm flipH="false" flipV="false" rot="0">
              <a:off x="0" y="0"/>
              <a:ext cx="1025573" cy="1480307"/>
            </a:xfrm>
            <a:custGeom>
              <a:avLst/>
              <a:gdLst/>
              <a:ahLst/>
              <a:cxnLst/>
              <a:rect r="r" b="b" t="t" l="l"/>
              <a:pathLst>
                <a:path h="1480307" w="1025573">
                  <a:moveTo>
                    <a:pt x="27219" y="0"/>
                  </a:moveTo>
                  <a:lnTo>
                    <a:pt x="998354" y="0"/>
                  </a:lnTo>
                  <a:cubicBezTo>
                    <a:pt x="1005573" y="0"/>
                    <a:pt x="1012496" y="2868"/>
                    <a:pt x="1017601" y="7972"/>
                  </a:cubicBezTo>
                  <a:cubicBezTo>
                    <a:pt x="1022705" y="13077"/>
                    <a:pt x="1025573" y="20000"/>
                    <a:pt x="1025573" y="27219"/>
                  </a:cubicBezTo>
                  <a:lnTo>
                    <a:pt x="1025573" y="1453089"/>
                  </a:lnTo>
                  <a:cubicBezTo>
                    <a:pt x="1025573" y="1460307"/>
                    <a:pt x="1022705" y="1467231"/>
                    <a:pt x="1017601" y="1472335"/>
                  </a:cubicBezTo>
                  <a:cubicBezTo>
                    <a:pt x="1012496" y="1477440"/>
                    <a:pt x="1005573" y="1480307"/>
                    <a:pt x="998354" y="1480307"/>
                  </a:cubicBezTo>
                  <a:lnTo>
                    <a:pt x="27219" y="1480307"/>
                  </a:lnTo>
                  <a:cubicBezTo>
                    <a:pt x="12186" y="1480307"/>
                    <a:pt x="0" y="1468121"/>
                    <a:pt x="0" y="1453089"/>
                  </a:cubicBezTo>
                  <a:lnTo>
                    <a:pt x="0" y="27219"/>
                  </a:lnTo>
                  <a:cubicBezTo>
                    <a:pt x="0" y="20000"/>
                    <a:pt x="2868" y="13077"/>
                    <a:pt x="7972" y="7972"/>
                  </a:cubicBezTo>
                  <a:cubicBezTo>
                    <a:pt x="13077" y="2868"/>
                    <a:pt x="20000" y="0"/>
                    <a:pt x="27219" y="0"/>
                  </a:cubicBezTo>
                  <a:close/>
                </a:path>
              </a:pathLst>
            </a:custGeom>
            <a:solidFill>
              <a:srgbClr val="F8E9A8"/>
            </a:solidFill>
            <a:ln w="38100" cap="sq">
              <a:solidFill>
                <a:srgbClr val="000000"/>
              </a:solidFill>
              <a:prstDash val="solid"/>
              <a:miter/>
            </a:ln>
          </p:spPr>
        </p:sp>
        <p:sp>
          <p:nvSpPr>
            <p:cNvPr name="TextBox 11" id="11"/>
            <p:cNvSpPr txBox="true"/>
            <p:nvPr/>
          </p:nvSpPr>
          <p:spPr>
            <a:xfrm>
              <a:off x="0" y="-38100"/>
              <a:ext cx="1025573" cy="15184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3952997" y="2904403"/>
            <a:ext cx="1307481" cy="299003"/>
          </a:xfrm>
          <a:prstGeom prst="rect">
            <a:avLst/>
          </a:prstGeom>
        </p:spPr>
        <p:txBody>
          <a:bodyPr anchor="t" rtlCol="false" tIns="0" lIns="0" bIns="0" rIns="0">
            <a:spAutoFit/>
          </a:bodyPr>
          <a:lstStyle/>
          <a:p>
            <a:pPr algn="ctr" marL="0" indent="0" lvl="1">
              <a:lnSpc>
                <a:spcPts val="2152"/>
              </a:lnSpc>
            </a:pPr>
            <a:r>
              <a:rPr lang="en-US" b="true" sz="2391" spc="-59">
                <a:solidFill>
                  <a:srgbClr val="4F4A18"/>
                </a:solidFill>
                <a:latin typeface="Raleway Bold"/>
                <a:ea typeface="Raleway Bold"/>
                <a:cs typeface="Raleway Bold"/>
                <a:sym typeface="Raleway Bold"/>
              </a:rPr>
              <a:t>Estímulo</a:t>
            </a:r>
          </a:p>
        </p:txBody>
      </p:sp>
      <p:sp>
        <p:nvSpPr>
          <p:cNvPr name="TextBox 13" id="13"/>
          <p:cNvSpPr txBox="true"/>
          <p:nvPr/>
        </p:nvSpPr>
        <p:spPr>
          <a:xfrm rot="0">
            <a:off x="3546047" y="3586363"/>
            <a:ext cx="2121380" cy="1327376"/>
          </a:xfrm>
          <a:prstGeom prst="rect">
            <a:avLst/>
          </a:prstGeom>
        </p:spPr>
        <p:txBody>
          <a:bodyPr anchor="t" rtlCol="false" tIns="0" lIns="0" bIns="0" rIns="0">
            <a:spAutoFit/>
          </a:bodyPr>
          <a:lstStyle/>
          <a:p>
            <a:pPr algn="ctr" marL="0" indent="0" lvl="0">
              <a:lnSpc>
                <a:spcPts val="2127"/>
              </a:lnSpc>
            </a:pPr>
            <a:r>
              <a:rPr lang="en-US" b="true" sz="1599">
                <a:solidFill>
                  <a:srgbClr val="4F4A18"/>
                </a:solidFill>
                <a:latin typeface="Raleway Semi-Bold"/>
                <a:ea typeface="Raleway Semi-Bold"/>
                <a:cs typeface="Raleway Semi-Bold"/>
                <a:sym typeface="Raleway Semi-Bold"/>
              </a:rPr>
              <a:t>Se le solicita a un nuevo integrante, agregar una funcionalidad en la interfaz de usuario</a:t>
            </a:r>
          </a:p>
        </p:txBody>
      </p:sp>
      <p:grpSp>
        <p:nvGrpSpPr>
          <p:cNvPr name="Group 14" id="14"/>
          <p:cNvGrpSpPr/>
          <p:nvPr/>
        </p:nvGrpSpPr>
        <p:grpSpPr>
          <a:xfrm rot="0">
            <a:off x="6209883" y="2220396"/>
            <a:ext cx="2844341" cy="4105508"/>
            <a:chOff x="0" y="0"/>
            <a:chExt cx="1025573" cy="1480307"/>
          </a:xfrm>
        </p:grpSpPr>
        <p:sp>
          <p:nvSpPr>
            <p:cNvPr name="Freeform 15" id="15"/>
            <p:cNvSpPr/>
            <p:nvPr/>
          </p:nvSpPr>
          <p:spPr>
            <a:xfrm flipH="false" flipV="false" rot="0">
              <a:off x="0" y="0"/>
              <a:ext cx="1025573" cy="1480307"/>
            </a:xfrm>
            <a:custGeom>
              <a:avLst/>
              <a:gdLst/>
              <a:ahLst/>
              <a:cxnLst/>
              <a:rect r="r" b="b" t="t" l="l"/>
              <a:pathLst>
                <a:path h="1480307" w="1025573">
                  <a:moveTo>
                    <a:pt x="27219" y="0"/>
                  </a:moveTo>
                  <a:lnTo>
                    <a:pt x="998354" y="0"/>
                  </a:lnTo>
                  <a:cubicBezTo>
                    <a:pt x="1005573" y="0"/>
                    <a:pt x="1012496" y="2868"/>
                    <a:pt x="1017601" y="7972"/>
                  </a:cubicBezTo>
                  <a:cubicBezTo>
                    <a:pt x="1022705" y="13077"/>
                    <a:pt x="1025573" y="20000"/>
                    <a:pt x="1025573" y="27219"/>
                  </a:cubicBezTo>
                  <a:lnTo>
                    <a:pt x="1025573" y="1453089"/>
                  </a:lnTo>
                  <a:cubicBezTo>
                    <a:pt x="1025573" y="1460307"/>
                    <a:pt x="1022705" y="1467231"/>
                    <a:pt x="1017601" y="1472335"/>
                  </a:cubicBezTo>
                  <a:cubicBezTo>
                    <a:pt x="1012496" y="1477440"/>
                    <a:pt x="1005573" y="1480307"/>
                    <a:pt x="998354" y="1480307"/>
                  </a:cubicBezTo>
                  <a:lnTo>
                    <a:pt x="27219" y="1480307"/>
                  </a:lnTo>
                  <a:cubicBezTo>
                    <a:pt x="12186" y="1480307"/>
                    <a:pt x="0" y="1468121"/>
                    <a:pt x="0" y="1453089"/>
                  </a:cubicBezTo>
                  <a:lnTo>
                    <a:pt x="0" y="27219"/>
                  </a:lnTo>
                  <a:cubicBezTo>
                    <a:pt x="0" y="20000"/>
                    <a:pt x="2868" y="13077"/>
                    <a:pt x="7972" y="7972"/>
                  </a:cubicBezTo>
                  <a:cubicBezTo>
                    <a:pt x="13077" y="2868"/>
                    <a:pt x="20000" y="0"/>
                    <a:pt x="27219" y="0"/>
                  </a:cubicBezTo>
                  <a:close/>
                </a:path>
              </a:pathLst>
            </a:custGeom>
            <a:solidFill>
              <a:srgbClr val="F8E9A8"/>
            </a:solidFill>
            <a:ln w="38100" cap="sq">
              <a:solidFill>
                <a:srgbClr val="000000"/>
              </a:solidFill>
              <a:prstDash val="solid"/>
              <a:miter/>
            </a:ln>
          </p:spPr>
        </p:sp>
        <p:sp>
          <p:nvSpPr>
            <p:cNvPr name="TextBox 16" id="16"/>
            <p:cNvSpPr txBox="true"/>
            <p:nvPr/>
          </p:nvSpPr>
          <p:spPr>
            <a:xfrm>
              <a:off x="0" y="-38100"/>
              <a:ext cx="1025573" cy="15184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7" id="17"/>
          <p:cNvSpPr txBox="true"/>
          <p:nvPr/>
        </p:nvSpPr>
        <p:spPr>
          <a:xfrm rot="0">
            <a:off x="6977601" y="2904403"/>
            <a:ext cx="1307481" cy="299003"/>
          </a:xfrm>
          <a:prstGeom prst="rect">
            <a:avLst/>
          </a:prstGeom>
        </p:spPr>
        <p:txBody>
          <a:bodyPr anchor="t" rtlCol="false" tIns="0" lIns="0" bIns="0" rIns="0">
            <a:spAutoFit/>
          </a:bodyPr>
          <a:lstStyle/>
          <a:p>
            <a:pPr algn="ctr" marL="0" indent="0" lvl="1">
              <a:lnSpc>
                <a:spcPts val="2152"/>
              </a:lnSpc>
            </a:pPr>
            <a:r>
              <a:rPr lang="en-US" b="true" sz="2391" spc="-59">
                <a:solidFill>
                  <a:srgbClr val="4F4A18"/>
                </a:solidFill>
                <a:latin typeface="Raleway Bold"/>
                <a:ea typeface="Raleway Bold"/>
                <a:cs typeface="Raleway Bold"/>
                <a:sym typeface="Raleway Bold"/>
              </a:rPr>
              <a:t>Entorno</a:t>
            </a:r>
          </a:p>
        </p:txBody>
      </p:sp>
      <p:sp>
        <p:nvSpPr>
          <p:cNvPr name="TextBox 18" id="18"/>
          <p:cNvSpPr txBox="true"/>
          <p:nvPr/>
        </p:nvSpPr>
        <p:spPr>
          <a:xfrm rot="0">
            <a:off x="6571363" y="3586363"/>
            <a:ext cx="2121380" cy="830145"/>
          </a:xfrm>
          <a:prstGeom prst="rect">
            <a:avLst/>
          </a:prstGeom>
        </p:spPr>
        <p:txBody>
          <a:bodyPr anchor="t" rtlCol="false" tIns="0" lIns="0" bIns="0" rIns="0">
            <a:spAutoFit/>
          </a:bodyPr>
          <a:lstStyle/>
          <a:p>
            <a:pPr algn="ctr" marL="0" indent="0" lvl="0">
              <a:lnSpc>
                <a:spcPts val="2183"/>
              </a:lnSpc>
            </a:pPr>
            <a:r>
              <a:rPr lang="en-US" b="true" sz="1641">
                <a:solidFill>
                  <a:srgbClr val="4F4A18"/>
                </a:solidFill>
                <a:latin typeface="Raleway Semi-Bold"/>
                <a:ea typeface="Raleway Semi-Bold"/>
                <a:cs typeface="Raleway Semi-Bold"/>
                <a:sym typeface="Raleway Semi-Bold"/>
              </a:rPr>
              <a:t>El sistema está en un proceso de actualización</a:t>
            </a:r>
          </a:p>
        </p:txBody>
      </p:sp>
      <p:grpSp>
        <p:nvGrpSpPr>
          <p:cNvPr name="Group 19" id="19"/>
          <p:cNvGrpSpPr/>
          <p:nvPr/>
        </p:nvGrpSpPr>
        <p:grpSpPr>
          <a:xfrm rot="0">
            <a:off x="9233776" y="2220396"/>
            <a:ext cx="2844341" cy="4105508"/>
            <a:chOff x="0" y="0"/>
            <a:chExt cx="1025573" cy="1480307"/>
          </a:xfrm>
        </p:grpSpPr>
        <p:sp>
          <p:nvSpPr>
            <p:cNvPr name="Freeform 20" id="20"/>
            <p:cNvSpPr/>
            <p:nvPr/>
          </p:nvSpPr>
          <p:spPr>
            <a:xfrm flipH="false" flipV="false" rot="0">
              <a:off x="0" y="0"/>
              <a:ext cx="1025573" cy="1480307"/>
            </a:xfrm>
            <a:custGeom>
              <a:avLst/>
              <a:gdLst/>
              <a:ahLst/>
              <a:cxnLst/>
              <a:rect r="r" b="b" t="t" l="l"/>
              <a:pathLst>
                <a:path h="1480307" w="1025573">
                  <a:moveTo>
                    <a:pt x="27219" y="0"/>
                  </a:moveTo>
                  <a:lnTo>
                    <a:pt x="998354" y="0"/>
                  </a:lnTo>
                  <a:cubicBezTo>
                    <a:pt x="1005573" y="0"/>
                    <a:pt x="1012496" y="2868"/>
                    <a:pt x="1017601" y="7972"/>
                  </a:cubicBezTo>
                  <a:cubicBezTo>
                    <a:pt x="1022705" y="13077"/>
                    <a:pt x="1025573" y="20000"/>
                    <a:pt x="1025573" y="27219"/>
                  </a:cubicBezTo>
                  <a:lnTo>
                    <a:pt x="1025573" y="1453089"/>
                  </a:lnTo>
                  <a:cubicBezTo>
                    <a:pt x="1025573" y="1460307"/>
                    <a:pt x="1022705" y="1467231"/>
                    <a:pt x="1017601" y="1472335"/>
                  </a:cubicBezTo>
                  <a:cubicBezTo>
                    <a:pt x="1012496" y="1477440"/>
                    <a:pt x="1005573" y="1480307"/>
                    <a:pt x="998354" y="1480307"/>
                  </a:cubicBezTo>
                  <a:lnTo>
                    <a:pt x="27219" y="1480307"/>
                  </a:lnTo>
                  <a:cubicBezTo>
                    <a:pt x="12186" y="1480307"/>
                    <a:pt x="0" y="1468121"/>
                    <a:pt x="0" y="1453089"/>
                  </a:cubicBezTo>
                  <a:lnTo>
                    <a:pt x="0" y="27219"/>
                  </a:lnTo>
                  <a:cubicBezTo>
                    <a:pt x="0" y="20000"/>
                    <a:pt x="2868" y="13077"/>
                    <a:pt x="7972" y="7972"/>
                  </a:cubicBezTo>
                  <a:cubicBezTo>
                    <a:pt x="13077" y="2868"/>
                    <a:pt x="20000" y="0"/>
                    <a:pt x="27219" y="0"/>
                  </a:cubicBezTo>
                  <a:close/>
                </a:path>
              </a:pathLst>
            </a:custGeom>
            <a:solidFill>
              <a:srgbClr val="F8E9A8"/>
            </a:solidFill>
            <a:ln w="38100" cap="sq">
              <a:solidFill>
                <a:srgbClr val="000000"/>
              </a:solidFill>
              <a:prstDash val="solid"/>
              <a:miter/>
            </a:ln>
          </p:spPr>
        </p:sp>
        <p:sp>
          <p:nvSpPr>
            <p:cNvPr name="TextBox 21" id="21"/>
            <p:cNvSpPr txBox="true"/>
            <p:nvPr/>
          </p:nvSpPr>
          <p:spPr>
            <a:xfrm>
              <a:off x="0" y="-38100"/>
              <a:ext cx="1025573" cy="15184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2" id="22"/>
          <p:cNvSpPr txBox="true"/>
          <p:nvPr/>
        </p:nvSpPr>
        <p:spPr>
          <a:xfrm rot="0">
            <a:off x="9885738" y="2904403"/>
            <a:ext cx="1541839" cy="299003"/>
          </a:xfrm>
          <a:prstGeom prst="rect">
            <a:avLst/>
          </a:prstGeom>
        </p:spPr>
        <p:txBody>
          <a:bodyPr anchor="t" rtlCol="false" tIns="0" lIns="0" bIns="0" rIns="0">
            <a:spAutoFit/>
          </a:bodyPr>
          <a:lstStyle/>
          <a:p>
            <a:pPr algn="ctr" marL="0" indent="0" lvl="1">
              <a:lnSpc>
                <a:spcPts val="2152"/>
              </a:lnSpc>
            </a:pPr>
            <a:r>
              <a:rPr lang="en-US" b="true" sz="2391" spc="-59">
                <a:solidFill>
                  <a:srgbClr val="4F4A18"/>
                </a:solidFill>
                <a:latin typeface="Raleway Bold"/>
                <a:ea typeface="Raleway Bold"/>
                <a:cs typeface="Raleway Bold"/>
                <a:sym typeface="Raleway Bold"/>
              </a:rPr>
              <a:t>Artefacto</a:t>
            </a:r>
          </a:p>
        </p:txBody>
      </p:sp>
      <p:sp>
        <p:nvSpPr>
          <p:cNvPr name="TextBox 23" id="23"/>
          <p:cNvSpPr txBox="true"/>
          <p:nvPr/>
        </p:nvSpPr>
        <p:spPr>
          <a:xfrm rot="0">
            <a:off x="9595256" y="3586363"/>
            <a:ext cx="2121380" cy="553920"/>
          </a:xfrm>
          <a:prstGeom prst="rect">
            <a:avLst/>
          </a:prstGeom>
        </p:spPr>
        <p:txBody>
          <a:bodyPr anchor="t" rtlCol="false" tIns="0" lIns="0" bIns="0" rIns="0">
            <a:spAutoFit/>
          </a:bodyPr>
          <a:lstStyle/>
          <a:p>
            <a:pPr algn="ctr" marL="0" indent="0" lvl="0">
              <a:lnSpc>
                <a:spcPts val="2183"/>
              </a:lnSpc>
            </a:pPr>
            <a:r>
              <a:rPr lang="en-US" b="true" sz="1641">
                <a:solidFill>
                  <a:srgbClr val="4F4A18"/>
                </a:solidFill>
                <a:latin typeface="Raleway Semi-Bold"/>
                <a:ea typeface="Raleway Semi-Bold"/>
                <a:cs typeface="Raleway Semi-Bold"/>
                <a:sym typeface="Raleway Semi-Bold"/>
              </a:rPr>
              <a:t>Módulo de interfaz de usuario</a:t>
            </a:r>
          </a:p>
        </p:txBody>
      </p:sp>
      <p:grpSp>
        <p:nvGrpSpPr>
          <p:cNvPr name="Group 24" id="24"/>
          <p:cNvGrpSpPr/>
          <p:nvPr/>
        </p:nvGrpSpPr>
        <p:grpSpPr>
          <a:xfrm rot="0">
            <a:off x="12259092" y="2220396"/>
            <a:ext cx="2844341" cy="4105508"/>
            <a:chOff x="0" y="0"/>
            <a:chExt cx="1025573" cy="1480307"/>
          </a:xfrm>
        </p:grpSpPr>
        <p:sp>
          <p:nvSpPr>
            <p:cNvPr name="Freeform 25" id="25"/>
            <p:cNvSpPr/>
            <p:nvPr/>
          </p:nvSpPr>
          <p:spPr>
            <a:xfrm flipH="false" flipV="false" rot="0">
              <a:off x="0" y="0"/>
              <a:ext cx="1025573" cy="1480307"/>
            </a:xfrm>
            <a:custGeom>
              <a:avLst/>
              <a:gdLst/>
              <a:ahLst/>
              <a:cxnLst/>
              <a:rect r="r" b="b" t="t" l="l"/>
              <a:pathLst>
                <a:path h="1480307" w="1025573">
                  <a:moveTo>
                    <a:pt x="27219" y="0"/>
                  </a:moveTo>
                  <a:lnTo>
                    <a:pt x="998354" y="0"/>
                  </a:lnTo>
                  <a:cubicBezTo>
                    <a:pt x="1005573" y="0"/>
                    <a:pt x="1012496" y="2868"/>
                    <a:pt x="1017601" y="7972"/>
                  </a:cubicBezTo>
                  <a:cubicBezTo>
                    <a:pt x="1022705" y="13077"/>
                    <a:pt x="1025573" y="20000"/>
                    <a:pt x="1025573" y="27219"/>
                  </a:cubicBezTo>
                  <a:lnTo>
                    <a:pt x="1025573" y="1453089"/>
                  </a:lnTo>
                  <a:cubicBezTo>
                    <a:pt x="1025573" y="1460307"/>
                    <a:pt x="1022705" y="1467231"/>
                    <a:pt x="1017601" y="1472335"/>
                  </a:cubicBezTo>
                  <a:cubicBezTo>
                    <a:pt x="1012496" y="1477440"/>
                    <a:pt x="1005573" y="1480307"/>
                    <a:pt x="998354" y="1480307"/>
                  </a:cubicBezTo>
                  <a:lnTo>
                    <a:pt x="27219" y="1480307"/>
                  </a:lnTo>
                  <a:cubicBezTo>
                    <a:pt x="12186" y="1480307"/>
                    <a:pt x="0" y="1468121"/>
                    <a:pt x="0" y="1453089"/>
                  </a:cubicBezTo>
                  <a:lnTo>
                    <a:pt x="0" y="27219"/>
                  </a:lnTo>
                  <a:cubicBezTo>
                    <a:pt x="0" y="20000"/>
                    <a:pt x="2868" y="13077"/>
                    <a:pt x="7972" y="7972"/>
                  </a:cubicBezTo>
                  <a:cubicBezTo>
                    <a:pt x="13077" y="2868"/>
                    <a:pt x="20000" y="0"/>
                    <a:pt x="27219" y="0"/>
                  </a:cubicBezTo>
                  <a:close/>
                </a:path>
              </a:pathLst>
            </a:custGeom>
            <a:solidFill>
              <a:srgbClr val="F8E9A8"/>
            </a:solidFill>
            <a:ln w="38100" cap="sq">
              <a:solidFill>
                <a:srgbClr val="000000"/>
              </a:solidFill>
              <a:prstDash val="solid"/>
              <a:miter/>
            </a:ln>
          </p:spPr>
        </p:sp>
        <p:sp>
          <p:nvSpPr>
            <p:cNvPr name="TextBox 26" id="26"/>
            <p:cNvSpPr txBox="true"/>
            <p:nvPr/>
          </p:nvSpPr>
          <p:spPr>
            <a:xfrm>
              <a:off x="0" y="-38100"/>
              <a:ext cx="1025573" cy="15184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7" id="27"/>
          <p:cNvSpPr txBox="true"/>
          <p:nvPr/>
        </p:nvSpPr>
        <p:spPr>
          <a:xfrm rot="0">
            <a:off x="12824047" y="2904403"/>
            <a:ext cx="1714431" cy="299003"/>
          </a:xfrm>
          <a:prstGeom prst="rect">
            <a:avLst/>
          </a:prstGeom>
        </p:spPr>
        <p:txBody>
          <a:bodyPr anchor="t" rtlCol="false" tIns="0" lIns="0" bIns="0" rIns="0">
            <a:spAutoFit/>
          </a:bodyPr>
          <a:lstStyle/>
          <a:p>
            <a:pPr algn="ctr" marL="0" indent="0" lvl="1">
              <a:lnSpc>
                <a:spcPts val="2152"/>
              </a:lnSpc>
            </a:pPr>
            <a:r>
              <a:rPr lang="en-US" b="true" sz="2391" spc="-59">
                <a:solidFill>
                  <a:srgbClr val="4F4A18"/>
                </a:solidFill>
                <a:latin typeface="Raleway Bold"/>
                <a:ea typeface="Raleway Bold"/>
                <a:cs typeface="Raleway Bold"/>
                <a:sym typeface="Raleway Bold"/>
              </a:rPr>
              <a:t>Respuesta</a:t>
            </a:r>
          </a:p>
        </p:txBody>
      </p:sp>
      <p:sp>
        <p:nvSpPr>
          <p:cNvPr name="TextBox 28" id="28"/>
          <p:cNvSpPr txBox="true"/>
          <p:nvPr/>
        </p:nvSpPr>
        <p:spPr>
          <a:xfrm rot="0">
            <a:off x="12620573" y="3439875"/>
            <a:ext cx="2121380" cy="1914752"/>
          </a:xfrm>
          <a:prstGeom prst="rect">
            <a:avLst/>
          </a:prstGeom>
        </p:spPr>
        <p:txBody>
          <a:bodyPr anchor="t" rtlCol="false" tIns="0" lIns="0" bIns="0" rIns="0">
            <a:spAutoFit/>
          </a:bodyPr>
          <a:lstStyle/>
          <a:p>
            <a:pPr algn="ctr" marL="0" indent="0" lvl="0">
              <a:lnSpc>
                <a:spcPts val="2183"/>
              </a:lnSpc>
            </a:pPr>
            <a:r>
              <a:rPr lang="en-US" b="true" sz="1641">
                <a:solidFill>
                  <a:srgbClr val="4F4A18"/>
                </a:solidFill>
                <a:latin typeface="Raleway Semi-Bold"/>
                <a:ea typeface="Raleway Semi-Bold"/>
                <a:cs typeface="Raleway Semi-Bold"/>
                <a:sym typeface="Raleway Semi-Bold"/>
              </a:rPr>
              <a:t>El nuevo integrante identifica rápidamente donde se encuentra el módulo de interfaz (GUI) y realiza el cambio.</a:t>
            </a:r>
          </a:p>
        </p:txBody>
      </p:sp>
      <p:grpSp>
        <p:nvGrpSpPr>
          <p:cNvPr name="Group 29" id="29"/>
          <p:cNvGrpSpPr/>
          <p:nvPr/>
        </p:nvGrpSpPr>
        <p:grpSpPr>
          <a:xfrm rot="0">
            <a:off x="15282985" y="2220396"/>
            <a:ext cx="2844341" cy="4105508"/>
            <a:chOff x="0" y="0"/>
            <a:chExt cx="1025573" cy="1480307"/>
          </a:xfrm>
        </p:grpSpPr>
        <p:sp>
          <p:nvSpPr>
            <p:cNvPr name="Freeform 30" id="30"/>
            <p:cNvSpPr/>
            <p:nvPr/>
          </p:nvSpPr>
          <p:spPr>
            <a:xfrm flipH="false" flipV="false" rot="0">
              <a:off x="0" y="0"/>
              <a:ext cx="1025573" cy="1480307"/>
            </a:xfrm>
            <a:custGeom>
              <a:avLst/>
              <a:gdLst/>
              <a:ahLst/>
              <a:cxnLst/>
              <a:rect r="r" b="b" t="t" l="l"/>
              <a:pathLst>
                <a:path h="1480307" w="1025573">
                  <a:moveTo>
                    <a:pt x="27219" y="0"/>
                  </a:moveTo>
                  <a:lnTo>
                    <a:pt x="998354" y="0"/>
                  </a:lnTo>
                  <a:cubicBezTo>
                    <a:pt x="1005573" y="0"/>
                    <a:pt x="1012496" y="2868"/>
                    <a:pt x="1017601" y="7972"/>
                  </a:cubicBezTo>
                  <a:cubicBezTo>
                    <a:pt x="1022705" y="13077"/>
                    <a:pt x="1025573" y="20000"/>
                    <a:pt x="1025573" y="27219"/>
                  </a:cubicBezTo>
                  <a:lnTo>
                    <a:pt x="1025573" y="1453089"/>
                  </a:lnTo>
                  <a:cubicBezTo>
                    <a:pt x="1025573" y="1460307"/>
                    <a:pt x="1022705" y="1467231"/>
                    <a:pt x="1017601" y="1472335"/>
                  </a:cubicBezTo>
                  <a:cubicBezTo>
                    <a:pt x="1012496" y="1477440"/>
                    <a:pt x="1005573" y="1480307"/>
                    <a:pt x="998354" y="1480307"/>
                  </a:cubicBezTo>
                  <a:lnTo>
                    <a:pt x="27219" y="1480307"/>
                  </a:lnTo>
                  <a:cubicBezTo>
                    <a:pt x="12186" y="1480307"/>
                    <a:pt x="0" y="1468121"/>
                    <a:pt x="0" y="1453089"/>
                  </a:cubicBezTo>
                  <a:lnTo>
                    <a:pt x="0" y="27219"/>
                  </a:lnTo>
                  <a:cubicBezTo>
                    <a:pt x="0" y="20000"/>
                    <a:pt x="2868" y="13077"/>
                    <a:pt x="7972" y="7972"/>
                  </a:cubicBezTo>
                  <a:cubicBezTo>
                    <a:pt x="13077" y="2868"/>
                    <a:pt x="20000" y="0"/>
                    <a:pt x="27219" y="0"/>
                  </a:cubicBezTo>
                  <a:close/>
                </a:path>
              </a:pathLst>
            </a:custGeom>
            <a:solidFill>
              <a:srgbClr val="F8E9A8"/>
            </a:solidFill>
            <a:ln w="38100" cap="sq">
              <a:solidFill>
                <a:srgbClr val="000000"/>
              </a:solidFill>
              <a:prstDash val="solid"/>
              <a:miter/>
            </a:ln>
          </p:spPr>
        </p:sp>
        <p:sp>
          <p:nvSpPr>
            <p:cNvPr name="TextBox 31" id="31"/>
            <p:cNvSpPr txBox="true"/>
            <p:nvPr/>
          </p:nvSpPr>
          <p:spPr>
            <a:xfrm>
              <a:off x="0" y="-38100"/>
              <a:ext cx="1025573" cy="15184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32" id="32"/>
          <p:cNvSpPr txBox="true"/>
          <p:nvPr/>
        </p:nvSpPr>
        <p:spPr>
          <a:xfrm rot="0">
            <a:off x="15847941" y="2771881"/>
            <a:ext cx="1714431" cy="564047"/>
          </a:xfrm>
          <a:prstGeom prst="rect">
            <a:avLst/>
          </a:prstGeom>
        </p:spPr>
        <p:txBody>
          <a:bodyPr anchor="t" rtlCol="false" tIns="0" lIns="0" bIns="0" rIns="0">
            <a:spAutoFit/>
          </a:bodyPr>
          <a:lstStyle/>
          <a:p>
            <a:pPr algn="ctr" marL="0" indent="0" lvl="1">
              <a:lnSpc>
                <a:spcPts val="2152"/>
              </a:lnSpc>
            </a:pPr>
            <a:r>
              <a:rPr lang="en-US" b="true" sz="2391" spc="-59">
                <a:solidFill>
                  <a:srgbClr val="4F4A18"/>
                </a:solidFill>
                <a:latin typeface="Raleway Bold"/>
                <a:ea typeface="Raleway Bold"/>
                <a:cs typeface="Raleway Bold"/>
                <a:sym typeface="Raleway Bold"/>
              </a:rPr>
              <a:t>Medida de la respuesta</a:t>
            </a:r>
          </a:p>
        </p:txBody>
      </p:sp>
      <p:sp>
        <p:nvSpPr>
          <p:cNvPr name="TextBox 33" id="33"/>
          <p:cNvSpPr txBox="true"/>
          <p:nvPr/>
        </p:nvSpPr>
        <p:spPr>
          <a:xfrm rot="0">
            <a:off x="15644466" y="3586363"/>
            <a:ext cx="2121380" cy="964348"/>
          </a:xfrm>
          <a:prstGeom prst="rect">
            <a:avLst/>
          </a:prstGeom>
        </p:spPr>
        <p:txBody>
          <a:bodyPr anchor="t" rtlCol="false" tIns="0" lIns="0" bIns="0" rIns="0">
            <a:spAutoFit/>
          </a:bodyPr>
          <a:lstStyle/>
          <a:p>
            <a:pPr algn="ctr" marL="0" indent="0" lvl="0">
              <a:lnSpc>
                <a:spcPts val="2014"/>
              </a:lnSpc>
            </a:pPr>
            <a:r>
              <a:rPr lang="en-US" b="true" sz="1514">
                <a:solidFill>
                  <a:srgbClr val="4F4A18"/>
                </a:solidFill>
                <a:latin typeface="Raleway Semi-Bold"/>
                <a:ea typeface="Raleway Semi-Bold"/>
                <a:cs typeface="Raleway Semi-Bold"/>
                <a:sym typeface="Raleway Semi-Bold"/>
              </a:rPr>
              <a:t>El nuevo desarrollador puede implementar el cambio en menos de 9 horas</a:t>
            </a:r>
          </a:p>
        </p:txBody>
      </p:sp>
      <p:sp>
        <p:nvSpPr>
          <p:cNvPr name="TextBox 34" id="34"/>
          <p:cNvSpPr txBox="true"/>
          <p:nvPr/>
        </p:nvSpPr>
        <p:spPr>
          <a:xfrm rot="0">
            <a:off x="1149555" y="7573679"/>
            <a:ext cx="16168442" cy="981765"/>
          </a:xfrm>
          <a:prstGeom prst="rect">
            <a:avLst/>
          </a:prstGeom>
        </p:spPr>
        <p:txBody>
          <a:bodyPr anchor="t" rtlCol="false" tIns="0" lIns="0" bIns="0" rIns="0">
            <a:spAutoFit/>
          </a:bodyPr>
          <a:lstStyle/>
          <a:p>
            <a:pPr algn="just" marL="0" indent="0" lvl="0">
              <a:lnSpc>
                <a:spcPts val="2599"/>
              </a:lnSpc>
            </a:pPr>
            <a:r>
              <a:rPr lang="en-US" b="true" sz="2499">
                <a:solidFill>
                  <a:srgbClr val="4F4A18"/>
                </a:solidFill>
                <a:latin typeface="DM Sans Bold"/>
                <a:ea typeface="DM Sans Bold"/>
                <a:cs typeface="DM Sans Bold"/>
                <a:sym typeface="DM Sans Bold"/>
              </a:rPr>
              <a:t>Durante una actualización del sistema, el equipo de desarrollo le pide a un nuevo integrante agregar una funcionalidad en el módulo de interfaz de usuario, el nuevo integrante identifica rápidamente donde se localiza el módulo y realiza el cambió en menos de 9 horas.</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FF7D6"/>
        </a:solidFill>
      </p:bgPr>
    </p:bg>
    <p:spTree>
      <p:nvGrpSpPr>
        <p:cNvPr id="1" name=""/>
        <p:cNvGrpSpPr/>
        <p:nvPr/>
      </p:nvGrpSpPr>
      <p:grpSpPr>
        <a:xfrm>
          <a:off x="0" y="0"/>
          <a:ext cx="0" cy="0"/>
          <a:chOff x="0" y="0"/>
          <a:chExt cx="0" cy="0"/>
        </a:xfrm>
      </p:grpSpPr>
      <p:sp>
        <p:nvSpPr>
          <p:cNvPr name="TextBox 2" id="2"/>
          <p:cNvSpPr txBox="true"/>
          <p:nvPr/>
        </p:nvSpPr>
        <p:spPr>
          <a:xfrm rot="0">
            <a:off x="1059663" y="1004680"/>
            <a:ext cx="10427109" cy="569595"/>
          </a:xfrm>
          <a:prstGeom prst="rect">
            <a:avLst/>
          </a:prstGeom>
        </p:spPr>
        <p:txBody>
          <a:bodyPr anchor="t" rtlCol="false" tIns="0" lIns="0" bIns="0" rIns="0">
            <a:spAutoFit/>
          </a:bodyPr>
          <a:lstStyle/>
          <a:p>
            <a:pPr algn="just">
              <a:lnSpc>
                <a:spcPts val="4140"/>
              </a:lnSpc>
            </a:pPr>
            <a:r>
              <a:rPr lang="en-US" b="true" sz="4500">
                <a:solidFill>
                  <a:srgbClr val="000000"/>
                </a:solidFill>
                <a:latin typeface="DM Sans Bold"/>
                <a:ea typeface="DM Sans Bold"/>
                <a:cs typeface="DM Sans Bold"/>
                <a:sym typeface="DM Sans Bold"/>
              </a:rPr>
              <a:t>Escenario de calidad: Usabilidad</a:t>
            </a:r>
          </a:p>
        </p:txBody>
      </p:sp>
      <p:sp>
        <p:nvSpPr>
          <p:cNvPr name="TextBox 3" id="3"/>
          <p:cNvSpPr txBox="true"/>
          <p:nvPr/>
        </p:nvSpPr>
        <p:spPr>
          <a:xfrm rot="0">
            <a:off x="1059663" y="9411115"/>
            <a:ext cx="771729" cy="246949"/>
          </a:xfrm>
          <a:prstGeom prst="rect">
            <a:avLst/>
          </a:prstGeom>
        </p:spPr>
        <p:txBody>
          <a:bodyPr anchor="t" rtlCol="false" tIns="0" lIns="0" bIns="0" rIns="0">
            <a:spAutoFit/>
          </a:bodyPr>
          <a:lstStyle/>
          <a:p>
            <a:pPr algn="l">
              <a:lnSpc>
                <a:spcPts val="2076"/>
              </a:lnSpc>
            </a:pPr>
            <a:r>
              <a:rPr lang="en-US" sz="1482" b="true">
                <a:solidFill>
                  <a:srgbClr val="000000"/>
                </a:solidFill>
                <a:latin typeface="DM Sans Bold"/>
                <a:ea typeface="DM Sans Bold"/>
                <a:cs typeface="DM Sans Bold"/>
                <a:sym typeface="DM Sans Bold"/>
              </a:rPr>
              <a:t>6</a:t>
            </a:r>
          </a:p>
        </p:txBody>
      </p:sp>
      <p:grpSp>
        <p:nvGrpSpPr>
          <p:cNvPr name="Group 4" id="4"/>
          <p:cNvGrpSpPr/>
          <p:nvPr/>
        </p:nvGrpSpPr>
        <p:grpSpPr>
          <a:xfrm rot="0">
            <a:off x="160674" y="2220396"/>
            <a:ext cx="2844341" cy="4105508"/>
            <a:chOff x="0" y="0"/>
            <a:chExt cx="1025573" cy="1480307"/>
          </a:xfrm>
        </p:grpSpPr>
        <p:sp>
          <p:nvSpPr>
            <p:cNvPr name="Freeform 5" id="5"/>
            <p:cNvSpPr/>
            <p:nvPr/>
          </p:nvSpPr>
          <p:spPr>
            <a:xfrm flipH="false" flipV="false" rot="0">
              <a:off x="0" y="0"/>
              <a:ext cx="1025573" cy="1480307"/>
            </a:xfrm>
            <a:custGeom>
              <a:avLst/>
              <a:gdLst/>
              <a:ahLst/>
              <a:cxnLst/>
              <a:rect r="r" b="b" t="t" l="l"/>
              <a:pathLst>
                <a:path h="1480307" w="1025573">
                  <a:moveTo>
                    <a:pt x="27219" y="0"/>
                  </a:moveTo>
                  <a:lnTo>
                    <a:pt x="998354" y="0"/>
                  </a:lnTo>
                  <a:cubicBezTo>
                    <a:pt x="1005573" y="0"/>
                    <a:pt x="1012496" y="2868"/>
                    <a:pt x="1017601" y="7972"/>
                  </a:cubicBezTo>
                  <a:cubicBezTo>
                    <a:pt x="1022705" y="13077"/>
                    <a:pt x="1025573" y="20000"/>
                    <a:pt x="1025573" y="27219"/>
                  </a:cubicBezTo>
                  <a:lnTo>
                    <a:pt x="1025573" y="1453089"/>
                  </a:lnTo>
                  <a:cubicBezTo>
                    <a:pt x="1025573" y="1460307"/>
                    <a:pt x="1022705" y="1467231"/>
                    <a:pt x="1017601" y="1472335"/>
                  </a:cubicBezTo>
                  <a:cubicBezTo>
                    <a:pt x="1012496" y="1477440"/>
                    <a:pt x="1005573" y="1480307"/>
                    <a:pt x="998354" y="1480307"/>
                  </a:cubicBezTo>
                  <a:lnTo>
                    <a:pt x="27219" y="1480307"/>
                  </a:lnTo>
                  <a:cubicBezTo>
                    <a:pt x="12186" y="1480307"/>
                    <a:pt x="0" y="1468121"/>
                    <a:pt x="0" y="1453089"/>
                  </a:cubicBezTo>
                  <a:lnTo>
                    <a:pt x="0" y="27219"/>
                  </a:lnTo>
                  <a:cubicBezTo>
                    <a:pt x="0" y="20000"/>
                    <a:pt x="2868" y="13077"/>
                    <a:pt x="7972" y="7972"/>
                  </a:cubicBezTo>
                  <a:cubicBezTo>
                    <a:pt x="13077" y="2868"/>
                    <a:pt x="20000" y="0"/>
                    <a:pt x="27219" y="0"/>
                  </a:cubicBezTo>
                  <a:close/>
                </a:path>
              </a:pathLst>
            </a:custGeom>
            <a:solidFill>
              <a:srgbClr val="F8E9A8"/>
            </a:solidFill>
            <a:ln w="38100" cap="sq">
              <a:solidFill>
                <a:srgbClr val="000000"/>
              </a:solidFill>
              <a:prstDash val="solid"/>
              <a:miter/>
            </a:ln>
          </p:spPr>
        </p:sp>
        <p:sp>
          <p:nvSpPr>
            <p:cNvPr name="TextBox 6" id="6"/>
            <p:cNvSpPr txBox="true"/>
            <p:nvPr/>
          </p:nvSpPr>
          <p:spPr>
            <a:xfrm>
              <a:off x="0" y="-38100"/>
              <a:ext cx="1025573" cy="15184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7" id="7"/>
          <p:cNvSpPr txBox="true"/>
          <p:nvPr/>
        </p:nvSpPr>
        <p:spPr>
          <a:xfrm rot="0">
            <a:off x="929104" y="2639360"/>
            <a:ext cx="1307481" cy="829090"/>
          </a:xfrm>
          <a:prstGeom prst="rect">
            <a:avLst/>
          </a:prstGeom>
        </p:spPr>
        <p:txBody>
          <a:bodyPr anchor="t" rtlCol="false" tIns="0" lIns="0" bIns="0" rIns="0">
            <a:spAutoFit/>
          </a:bodyPr>
          <a:lstStyle/>
          <a:p>
            <a:pPr algn="ctr" marL="0" indent="0" lvl="1">
              <a:lnSpc>
                <a:spcPts val="2152"/>
              </a:lnSpc>
            </a:pPr>
            <a:r>
              <a:rPr lang="en-US" b="true" sz="2391" spc="-59">
                <a:solidFill>
                  <a:srgbClr val="4F4A18"/>
                </a:solidFill>
                <a:latin typeface="Raleway Bold"/>
                <a:ea typeface="Raleway Bold"/>
                <a:cs typeface="Raleway Bold"/>
                <a:sym typeface="Raleway Bold"/>
              </a:rPr>
              <a:t>Fuente del estímulo</a:t>
            </a:r>
          </a:p>
        </p:txBody>
      </p:sp>
      <p:sp>
        <p:nvSpPr>
          <p:cNvPr name="TextBox 8" id="8"/>
          <p:cNvSpPr txBox="true"/>
          <p:nvPr/>
        </p:nvSpPr>
        <p:spPr>
          <a:xfrm rot="0">
            <a:off x="520261" y="3608752"/>
            <a:ext cx="2121380" cy="268859"/>
          </a:xfrm>
          <a:prstGeom prst="rect">
            <a:avLst/>
          </a:prstGeom>
        </p:spPr>
        <p:txBody>
          <a:bodyPr anchor="t" rtlCol="false" tIns="0" lIns="0" bIns="0" rIns="0">
            <a:spAutoFit/>
          </a:bodyPr>
          <a:lstStyle/>
          <a:p>
            <a:pPr algn="ctr" marL="0" indent="0" lvl="0">
              <a:lnSpc>
                <a:spcPts val="2128"/>
              </a:lnSpc>
            </a:pPr>
            <a:r>
              <a:rPr lang="en-US" b="true" sz="1600">
                <a:solidFill>
                  <a:srgbClr val="4F4A18"/>
                </a:solidFill>
                <a:latin typeface="Raleway Semi-Bold"/>
                <a:ea typeface="Raleway Semi-Bold"/>
                <a:cs typeface="Raleway Semi-Bold"/>
                <a:sym typeface="Raleway Semi-Bold"/>
              </a:rPr>
              <a:t>Usuario</a:t>
            </a:r>
          </a:p>
        </p:txBody>
      </p:sp>
      <p:grpSp>
        <p:nvGrpSpPr>
          <p:cNvPr name="Group 9" id="9"/>
          <p:cNvGrpSpPr/>
          <p:nvPr/>
        </p:nvGrpSpPr>
        <p:grpSpPr>
          <a:xfrm rot="0">
            <a:off x="3184567" y="2220396"/>
            <a:ext cx="2844341" cy="4105508"/>
            <a:chOff x="0" y="0"/>
            <a:chExt cx="1025573" cy="1480307"/>
          </a:xfrm>
        </p:grpSpPr>
        <p:sp>
          <p:nvSpPr>
            <p:cNvPr name="Freeform 10" id="10"/>
            <p:cNvSpPr/>
            <p:nvPr/>
          </p:nvSpPr>
          <p:spPr>
            <a:xfrm flipH="false" flipV="false" rot="0">
              <a:off x="0" y="0"/>
              <a:ext cx="1025573" cy="1480307"/>
            </a:xfrm>
            <a:custGeom>
              <a:avLst/>
              <a:gdLst/>
              <a:ahLst/>
              <a:cxnLst/>
              <a:rect r="r" b="b" t="t" l="l"/>
              <a:pathLst>
                <a:path h="1480307" w="1025573">
                  <a:moveTo>
                    <a:pt x="27219" y="0"/>
                  </a:moveTo>
                  <a:lnTo>
                    <a:pt x="998354" y="0"/>
                  </a:lnTo>
                  <a:cubicBezTo>
                    <a:pt x="1005573" y="0"/>
                    <a:pt x="1012496" y="2868"/>
                    <a:pt x="1017601" y="7972"/>
                  </a:cubicBezTo>
                  <a:cubicBezTo>
                    <a:pt x="1022705" y="13077"/>
                    <a:pt x="1025573" y="20000"/>
                    <a:pt x="1025573" y="27219"/>
                  </a:cubicBezTo>
                  <a:lnTo>
                    <a:pt x="1025573" y="1453089"/>
                  </a:lnTo>
                  <a:cubicBezTo>
                    <a:pt x="1025573" y="1460307"/>
                    <a:pt x="1022705" y="1467231"/>
                    <a:pt x="1017601" y="1472335"/>
                  </a:cubicBezTo>
                  <a:cubicBezTo>
                    <a:pt x="1012496" y="1477440"/>
                    <a:pt x="1005573" y="1480307"/>
                    <a:pt x="998354" y="1480307"/>
                  </a:cubicBezTo>
                  <a:lnTo>
                    <a:pt x="27219" y="1480307"/>
                  </a:lnTo>
                  <a:cubicBezTo>
                    <a:pt x="12186" y="1480307"/>
                    <a:pt x="0" y="1468121"/>
                    <a:pt x="0" y="1453089"/>
                  </a:cubicBezTo>
                  <a:lnTo>
                    <a:pt x="0" y="27219"/>
                  </a:lnTo>
                  <a:cubicBezTo>
                    <a:pt x="0" y="20000"/>
                    <a:pt x="2868" y="13077"/>
                    <a:pt x="7972" y="7972"/>
                  </a:cubicBezTo>
                  <a:cubicBezTo>
                    <a:pt x="13077" y="2868"/>
                    <a:pt x="20000" y="0"/>
                    <a:pt x="27219" y="0"/>
                  </a:cubicBezTo>
                  <a:close/>
                </a:path>
              </a:pathLst>
            </a:custGeom>
            <a:solidFill>
              <a:srgbClr val="F8E9A8"/>
            </a:solidFill>
            <a:ln w="38100" cap="sq">
              <a:solidFill>
                <a:srgbClr val="000000"/>
              </a:solidFill>
              <a:prstDash val="solid"/>
              <a:miter/>
            </a:ln>
          </p:spPr>
        </p:sp>
        <p:sp>
          <p:nvSpPr>
            <p:cNvPr name="TextBox 11" id="11"/>
            <p:cNvSpPr txBox="true"/>
            <p:nvPr/>
          </p:nvSpPr>
          <p:spPr>
            <a:xfrm>
              <a:off x="0" y="-38100"/>
              <a:ext cx="1025573" cy="15184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3952997" y="2904403"/>
            <a:ext cx="1307481" cy="299003"/>
          </a:xfrm>
          <a:prstGeom prst="rect">
            <a:avLst/>
          </a:prstGeom>
        </p:spPr>
        <p:txBody>
          <a:bodyPr anchor="t" rtlCol="false" tIns="0" lIns="0" bIns="0" rIns="0">
            <a:spAutoFit/>
          </a:bodyPr>
          <a:lstStyle/>
          <a:p>
            <a:pPr algn="ctr" marL="0" indent="0" lvl="1">
              <a:lnSpc>
                <a:spcPts val="2152"/>
              </a:lnSpc>
            </a:pPr>
            <a:r>
              <a:rPr lang="en-US" b="true" sz="2391" spc="-59">
                <a:solidFill>
                  <a:srgbClr val="4F4A18"/>
                </a:solidFill>
                <a:latin typeface="Raleway Bold"/>
                <a:ea typeface="Raleway Bold"/>
                <a:cs typeface="Raleway Bold"/>
                <a:sym typeface="Raleway Bold"/>
              </a:rPr>
              <a:t>Estímulo</a:t>
            </a:r>
          </a:p>
        </p:txBody>
      </p:sp>
      <p:sp>
        <p:nvSpPr>
          <p:cNvPr name="TextBox 13" id="13"/>
          <p:cNvSpPr txBox="true"/>
          <p:nvPr/>
        </p:nvSpPr>
        <p:spPr>
          <a:xfrm rot="0">
            <a:off x="3546047" y="3586363"/>
            <a:ext cx="2121380" cy="2211299"/>
          </a:xfrm>
          <a:prstGeom prst="rect">
            <a:avLst/>
          </a:prstGeom>
        </p:spPr>
        <p:txBody>
          <a:bodyPr anchor="t" rtlCol="false" tIns="0" lIns="0" bIns="0" rIns="0">
            <a:spAutoFit/>
          </a:bodyPr>
          <a:lstStyle/>
          <a:p>
            <a:pPr algn="ctr" marL="0" indent="0" lvl="0">
              <a:lnSpc>
                <a:spcPts val="2181"/>
              </a:lnSpc>
            </a:pPr>
            <a:r>
              <a:rPr lang="en-US" b="true" sz="1640">
                <a:solidFill>
                  <a:srgbClr val="4F4A18"/>
                </a:solidFill>
                <a:latin typeface="Raleway Semi-Bold"/>
                <a:ea typeface="Raleway Semi-Bold"/>
                <a:cs typeface="Raleway Semi-Bold"/>
                <a:sym typeface="Raleway Semi-Bold"/>
              </a:rPr>
              <a:t>El usuario desea mover su personaje con las teclas, W, A ,S y D, para desplazarse hacia arriba, izquierda, abajo y derecha respectivamente.</a:t>
            </a:r>
          </a:p>
        </p:txBody>
      </p:sp>
      <p:grpSp>
        <p:nvGrpSpPr>
          <p:cNvPr name="Group 14" id="14"/>
          <p:cNvGrpSpPr/>
          <p:nvPr/>
        </p:nvGrpSpPr>
        <p:grpSpPr>
          <a:xfrm rot="0">
            <a:off x="6209883" y="2220396"/>
            <a:ext cx="2844341" cy="4105508"/>
            <a:chOff x="0" y="0"/>
            <a:chExt cx="1025573" cy="1480307"/>
          </a:xfrm>
        </p:grpSpPr>
        <p:sp>
          <p:nvSpPr>
            <p:cNvPr name="Freeform 15" id="15"/>
            <p:cNvSpPr/>
            <p:nvPr/>
          </p:nvSpPr>
          <p:spPr>
            <a:xfrm flipH="false" flipV="false" rot="0">
              <a:off x="0" y="0"/>
              <a:ext cx="1025573" cy="1480307"/>
            </a:xfrm>
            <a:custGeom>
              <a:avLst/>
              <a:gdLst/>
              <a:ahLst/>
              <a:cxnLst/>
              <a:rect r="r" b="b" t="t" l="l"/>
              <a:pathLst>
                <a:path h="1480307" w="1025573">
                  <a:moveTo>
                    <a:pt x="27219" y="0"/>
                  </a:moveTo>
                  <a:lnTo>
                    <a:pt x="998354" y="0"/>
                  </a:lnTo>
                  <a:cubicBezTo>
                    <a:pt x="1005573" y="0"/>
                    <a:pt x="1012496" y="2868"/>
                    <a:pt x="1017601" y="7972"/>
                  </a:cubicBezTo>
                  <a:cubicBezTo>
                    <a:pt x="1022705" y="13077"/>
                    <a:pt x="1025573" y="20000"/>
                    <a:pt x="1025573" y="27219"/>
                  </a:cubicBezTo>
                  <a:lnTo>
                    <a:pt x="1025573" y="1453089"/>
                  </a:lnTo>
                  <a:cubicBezTo>
                    <a:pt x="1025573" y="1460307"/>
                    <a:pt x="1022705" y="1467231"/>
                    <a:pt x="1017601" y="1472335"/>
                  </a:cubicBezTo>
                  <a:cubicBezTo>
                    <a:pt x="1012496" y="1477440"/>
                    <a:pt x="1005573" y="1480307"/>
                    <a:pt x="998354" y="1480307"/>
                  </a:cubicBezTo>
                  <a:lnTo>
                    <a:pt x="27219" y="1480307"/>
                  </a:lnTo>
                  <a:cubicBezTo>
                    <a:pt x="12186" y="1480307"/>
                    <a:pt x="0" y="1468121"/>
                    <a:pt x="0" y="1453089"/>
                  </a:cubicBezTo>
                  <a:lnTo>
                    <a:pt x="0" y="27219"/>
                  </a:lnTo>
                  <a:cubicBezTo>
                    <a:pt x="0" y="20000"/>
                    <a:pt x="2868" y="13077"/>
                    <a:pt x="7972" y="7972"/>
                  </a:cubicBezTo>
                  <a:cubicBezTo>
                    <a:pt x="13077" y="2868"/>
                    <a:pt x="20000" y="0"/>
                    <a:pt x="27219" y="0"/>
                  </a:cubicBezTo>
                  <a:close/>
                </a:path>
              </a:pathLst>
            </a:custGeom>
            <a:solidFill>
              <a:srgbClr val="F8E9A8"/>
            </a:solidFill>
            <a:ln w="38100" cap="sq">
              <a:solidFill>
                <a:srgbClr val="000000"/>
              </a:solidFill>
              <a:prstDash val="solid"/>
              <a:miter/>
            </a:ln>
          </p:spPr>
        </p:sp>
        <p:sp>
          <p:nvSpPr>
            <p:cNvPr name="TextBox 16" id="16"/>
            <p:cNvSpPr txBox="true"/>
            <p:nvPr/>
          </p:nvSpPr>
          <p:spPr>
            <a:xfrm>
              <a:off x="0" y="-38100"/>
              <a:ext cx="1025573" cy="15184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7" id="17"/>
          <p:cNvSpPr txBox="true"/>
          <p:nvPr/>
        </p:nvSpPr>
        <p:spPr>
          <a:xfrm rot="0">
            <a:off x="6977601" y="2904403"/>
            <a:ext cx="1307481" cy="299003"/>
          </a:xfrm>
          <a:prstGeom prst="rect">
            <a:avLst/>
          </a:prstGeom>
        </p:spPr>
        <p:txBody>
          <a:bodyPr anchor="t" rtlCol="false" tIns="0" lIns="0" bIns="0" rIns="0">
            <a:spAutoFit/>
          </a:bodyPr>
          <a:lstStyle/>
          <a:p>
            <a:pPr algn="ctr" marL="0" indent="0" lvl="1">
              <a:lnSpc>
                <a:spcPts val="2152"/>
              </a:lnSpc>
            </a:pPr>
            <a:r>
              <a:rPr lang="en-US" b="true" sz="2391" spc="-59">
                <a:solidFill>
                  <a:srgbClr val="4F4A18"/>
                </a:solidFill>
                <a:latin typeface="Raleway Bold"/>
                <a:ea typeface="Raleway Bold"/>
                <a:cs typeface="Raleway Bold"/>
                <a:sym typeface="Raleway Bold"/>
              </a:rPr>
              <a:t>Entorno</a:t>
            </a:r>
          </a:p>
        </p:txBody>
      </p:sp>
      <p:sp>
        <p:nvSpPr>
          <p:cNvPr name="TextBox 18" id="18"/>
          <p:cNvSpPr txBox="true"/>
          <p:nvPr/>
        </p:nvSpPr>
        <p:spPr>
          <a:xfrm rot="0">
            <a:off x="6571363" y="3586363"/>
            <a:ext cx="2121380" cy="553920"/>
          </a:xfrm>
          <a:prstGeom prst="rect">
            <a:avLst/>
          </a:prstGeom>
        </p:spPr>
        <p:txBody>
          <a:bodyPr anchor="t" rtlCol="false" tIns="0" lIns="0" bIns="0" rIns="0">
            <a:spAutoFit/>
          </a:bodyPr>
          <a:lstStyle/>
          <a:p>
            <a:pPr algn="ctr" marL="0" indent="0" lvl="0">
              <a:lnSpc>
                <a:spcPts val="2183"/>
              </a:lnSpc>
            </a:pPr>
            <a:r>
              <a:rPr lang="en-US" b="true" sz="1641">
                <a:solidFill>
                  <a:srgbClr val="4F4A18"/>
                </a:solidFill>
                <a:latin typeface="Raleway Semi-Bold"/>
                <a:ea typeface="Raleway Semi-Bold"/>
                <a:cs typeface="Raleway Semi-Bold"/>
                <a:sym typeface="Raleway Semi-Bold"/>
              </a:rPr>
              <a:t>En una partida normal</a:t>
            </a:r>
          </a:p>
        </p:txBody>
      </p:sp>
      <p:grpSp>
        <p:nvGrpSpPr>
          <p:cNvPr name="Group 19" id="19"/>
          <p:cNvGrpSpPr/>
          <p:nvPr/>
        </p:nvGrpSpPr>
        <p:grpSpPr>
          <a:xfrm rot="0">
            <a:off x="9233776" y="2220396"/>
            <a:ext cx="2844341" cy="4105508"/>
            <a:chOff x="0" y="0"/>
            <a:chExt cx="1025573" cy="1480307"/>
          </a:xfrm>
        </p:grpSpPr>
        <p:sp>
          <p:nvSpPr>
            <p:cNvPr name="Freeform 20" id="20"/>
            <p:cNvSpPr/>
            <p:nvPr/>
          </p:nvSpPr>
          <p:spPr>
            <a:xfrm flipH="false" flipV="false" rot="0">
              <a:off x="0" y="0"/>
              <a:ext cx="1025573" cy="1480307"/>
            </a:xfrm>
            <a:custGeom>
              <a:avLst/>
              <a:gdLst/>
              <a:ahLst/>
              <a:cxnLst/>
              <a:rect r="r" b="b" t="t" l="l"/>
              <a:pathLst>
                <a:path h="1480307" w="1025573">
                  <a:moveTo>
                    <a:pt x="27219" y="0"/>
                  </a:moveTo>
                  <a:lnTo>
                    <a:pt x="998354" y="0"/>
                  </a:lnTo>
                  <a:cubicBezTo>
                    <a:pt x="1005573" y="0"/>
                    <a:pt x="1012496" y="2868"/>
                    <a:pt x="1017601" y="7972"/>
                  </a:cubicBezTo>
                  <a:cubicBezTo>
                    <a:pt x="1022705" y="13077"/>
                    <a:pt x="1025573" y="20000"/>
                    <a:pt x="1025573" y="27219"/>
                  </a:cubicBezTo>
                  <a:lnTo>
                    <a:pt x="1025573" y="1453089"/>
                  </a:lnTo>
                  <a:cubicBezTo>
                    <a:pt x="1025573" y="1460307"/>
                    <a:pt x="1022705" y="1467231"/>
                    <a:pt x="1017601" y="1472335"/>
                  </a:cubicBezTo>
                  <a:cubicBezTo>
                    <a:pt x="1012496" y="1477440"/>
                    <a:pt x="1005573" y="1480307"/>
                    <a:pt x="998354" y="1480307"/>
                  </a:cubicBezTo>
                  <a:lnTo>
                    <a:pt x="27219" y="1480307"/>
                  </a:lnTo>
                  <a:cubicBezTo>
                    <a:pt x="12186" y="1480307"/>
                    <a:pt x="0" y="1468121"/>
                    <a:pt x="0" y="1453089"/>
                  </a:cubicBezTo>
                  <a:lnTo>
                    <a:pt x="0" y="27219"/>
                  </a:lnTo>
                  <a:cubicBezTo>
                    <a:pt x="0" y="20000"/>
                    <a:pt x="2868" y="13077"/>
                    <a:pt x="7972" y="7972"/>
                  </a:cubicBezTo>
                  <a:cubicBezTo>
                    <a:pt x="13077" y="2868"/>
                    <a:pt x="20000" y="0"/>
                    <a:pt x="27219" y="0"/>
                  </a:cubicBezTo>
                  <a:close/>
                </a:path>
              </a:pathLst>
            </a:custGeom>
            <a:solidFill>
              <a:srgbClr val="F8E9A8"/>
            </a:solidFill>
            <a:ln w="38100" cap="sq">
              <a:solidFill>
                <a:srgbClr val="000000"/>
              </a:solidFill>
              <a:prstDash val="solid"/>
              <a:miter/>
            </a:ln>
          </p:spPr>
        </p:sp>
        <p:sp>
          <p:nvSpPr>
            <p:cNvPr name="TextBox 21" id="21"/>
            <p:cNvSpPr txBox="true"/>
            <p:nvPr/>
          </p:nvSpPr>
          <p:spPr>
            <a:xfrm>
              <a:off x="0" y="-38100"/>
              <a:ext cx="1025573" cy="15184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2" id="22"/>
          <p:cNvSpPr txBox="true"/>
          <p:nvPr/>
        </p:nvSpPr>
        <p:spPr>
          <a:xfrm rot="0">
            <a:off x="9885738" y="2904403"/>
            <a:ext cx="1541839" cy="299003"/>
          </a:xfrm>
          <a:prstGeom prst="rect">
            <a:avLst/>
          </a:prstGeom>
        </p:spPr>
        <p:txBody>
          <a:bodyPr anchor="t" rtlCol="false" tIns="0" lIns="0" bIns="0" rIns="0">
            <a:spAutoFit/>
          </a:bodyPr>
          <a:lstStyle/>
          <a:p>
            <a:pPr algn="ctr" marL="0" indent="0" lvl="1">
              <a:lnSpc>
                <a:spcPts val="2152"/>
              </a:lnSpc>
            </a:pPr>
            <a:r>
              <a:rPr lang="en-US" b="true" sz="2391" spc="-59">
                <a:solidFill>
                  <a:srgbClr val="4F4A18"/>
                </a:solidFill>
                <a:latin typeface="Raleway Bold"/>
                <a:ea typeface="Raleway Bold"/>
                <a:cs typeface="Raleway Bold"/>
                <a:sym typeface="Raleway Bold"/>
              </a:rPr>
              <a:t>Artefacto</a:t>
            </a:r>
          </a:p>
        </p:txBody>
      </p:sp>
      <p:sp>
        <p:nvSpPr>
          <p:cNvPr name="TextBox 23" id="23"/>
          <p:cNvSpPr txBox="true"/>
          <p:nvPr/>
        </p:nvSpPr>
        <p:spPr>
          <a:xfrm rot="0">
            <a:off x="9595256" y="3586363"/>
            <a:ext cx="2121380" cy="553920"/>
          </a:xfrm>
          <a:prstGeom prst="rect">
            <a:avLst/>
          </a:prstGeom>
        </p:spPr>
        <p:txBody>
          <a:bodyPr anchor="t" rtlCol="false" tIns="0" lIns="0" bIns="0" rIns="0">
            <a:spAutoFit/>
          </a:bodyPr>
          <a:lstStyle/>
          <a:p>
            <a:pPr algn="ctr" marL="0" indent="0" lvl="0">
              <a:lnSpc>
                <a:spcPts val="2183"/>
              </a:lnSpc>
            </a:pPr>
            <a:r>
              <a:rPr lang="en-US" b="true" sz="1641">
                <a:solidFill>
                  <a:srgbClr val="4F4A18"/>
                </a:solidFill>
                <a:latin typeface="Raleway Semi-Bold"/>
                <a:ea typeface="Raleway Semi-Bold"/>
                <a:cs typeface="Raleway Semi-Bold"/>
                <a:sym typeface="Raleway Semi-Bold"/>
              </a:rPr>
              <a:t>Módulo de interfaz de usuario</a:t>
            </a:r>
          </a:p>
        </p:txBody>
      </p:sp>
      <p:grpSp>
        <p:nvGrpSpPr>
          <p:cNvPr name="Group 24" id="24"/>
          <p:cNvGrpSpPr/>
          <p:nvPr/>
        </p:nvGrpSpPr>
        <p:grpSpPr>
          <a:xfrm rot="0">
            <a:off x="12259092" y="2220396"/>
            <a:ext cx="2844341" cy="4105508"/>
            <a:chOff x="0" y="0"/>
            <a:chExt cx="1025573" cy="1480307"/>
          </a:xfrm>
        </p:grpSpPr>
        <p:sp>
          <p:nvSpPr>
            <p:cNvPr name="Freeform 25" id="25"/>
            <p:cNvSpPr/>
            <p:nvPr/>
          </p:nvSpPr>
          <p:spPr>
            <a:xfrm flipH="false" flipV="false" rot="0">
              <a:off x="0" y="0"/>
              <a:ext cx="1025573" cy="1480307"/>
            </a:xfrm>
            <a:custGeom>
              <a:avLst/>
              <a:gdLst/>
              <a:ahLst/>
              <a:cxnLst/>
              <a:rect r="r" b="b" t="t" l="l"/>
              <a:pathLst>
                <a:path h="1480307" w="1025573">
                  <a:moveTo>
                    <a:pt x="27219" y="0"/>
                  </a:moveTo>
                  <a:lnTo>
                    <a:pt x="998354" y="0"/>
                  </a:lnTo>
                  <a:cubicBezTo>
                    <a:pt x="1005573" y="0"/>
                    <a:pt x="1012496" y="2868"/>
                    <a:pt x="1017601" y="7972"/>
                  </a:cubicBezTo>
                  <a:cubicBezTo>
                    <a:pt x="1022705" y="13077"/>
                    <a:pt x="1025573" y="20000"/>
                    <a:pt x="1025573" y="27219"/>
                  </a:cubicBezTo>
                  <a:lnTo>
                    <a:pt x="1025573" y="1453089"/>
                  </a:lnTo>
                  <a:cubicBezTo>
                    <a:pt x="1025573" y="1460307"/>
                    <a:pt x="1022705" y="1467231"/>
                    <a:pt x="1017601" y="1472335"/>
                  </a:cubicBezTo>
                  <a:cubicBezTo>
                    <a:pt x="1012496" y="1477440"/>
                    <a:pt x="1005573" y="1480307"/>
                    <a:pt x="998354" y="1480307"/>
                  </a:cubicBezTo>
                  <a:lnTo>
                    <a:pt x="27219" y="1480307"/>
                  </a:lnTo>
                  <a:cubicBezTo>
                    <a:pt x="12186" y="1480307"/>
                    <a:pt x="0" y="1468121"/>
                    <a:pt x="0" y="1453089"/>
                  </a:cubicBezTo>
                  <a:lnTo>
                    <a:pt x="0" y="27219"/>
                  </a:lnTo>
                  <a:cubicBezTo>
                    <a:pt x="0" y="20000"/>
                    <a:pt x="2868" y="13077"/>
                    <a:pt x="7972" y="7972"/>
                  </a:cubicBezTo>
                  <a:cubicBezTo>
                    <a:pt x="13077" y="2868"/>
                    <a:pt x="20000" y="0"/>
                    <a:pt x="27219" y="0"/>
                  </a:cubicBezTo>
                  <a:close/>
                </a:path>
              </a:pathLst>
            </a:custGeom>
            <a:solidFill>
              <a:srgbClr val="F8E9A8"/>
            </a:solidFill>
            <a:ln w="38100" cap="sq">
              <a:solidFill>
                <a:srgbClr val="000000"/>
              </a:solidFill>
              <a:prstDash val="solid"/>
              <a:miter/>
            </a:ln>
          </p:spPr>
        </p:sp>
        <p:sp>
          <p:nvSpPr>
            <p:cNvPr name="TextBox 26" id="26"/>
            <p:cNvSpPr txBox="true"/>
            <p:nvPr/>
          </p:nvSpPr>
          <p:spPr>
            <a:xfrm>
              <a:off x="0" y="-38100"/>
              <a:ext cx="1025573" cy="15184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7" id="27"/>
          <p:cNvSpPr txBox="true"/>
          <p:nvPr/>
        </p:nvSpPr>
        <p:spPr>
          <a:xfrm rot="0">
            <a:off x="12824047" y="2904403"/>
            <a:ext cx="1714431" cy="299003"/>
          </a:xfrm>
          <a:prstGeom prst="rect">
            <a:avLst/>
          </a:prstGeom>
        </p:spPr>
        <p:txBody>
          <a:bodyPr anchor="t" rtlCol="false" tIns="0" lIns="0" bIns="0" rIns="0">
            <a:spAutoFit/>
          </a:bodyPr>
          <a:lstStyle/>
          <a:p>
            <a:pPr algn="ctr" marL="0" indent="0" lvl="1">
              <a:lnSpc>
                <a:spcPts val="2152"/>
              </a:lnSpc>
            </a:pPr>
            <a:r>
              <a:rPr lang="en-US" b="true" sz="2391" spc="-59">
                <a:solidFill>
                  <a:srgbClr val="4F4A18"/>
                </a:solidFill>
                <a:latin typeface="Raleway Bold"/>
                <a:ea typeface="Raleway Bold"/>
                <a:cs typeface="Raleway Bold"/>
                <a:sym typeface="Raleway Bold"/>
              </a:rPr>
              <a:t>Respuesta</a:t>
            </a:r>
          </a:p>
        </p:txBody>
      </p:sp>
      <p:sp>
        <p:nvSpPr>
          <p:cNvPr name="TextBox 28" id="28"/>
          <p:cNvSpPr txBox="true"/>
          <p:nvPr/>
        </p:nvSpPr>
        <p:spPr>
          <a:xfrm rot="0">
            <a:off x="12620573" y="3439875"/>
            <a:ext cx="2121380" cy="1382595"/>
          </a:xfrm>
          <a:prstGeom prst="rect">
            <a:avLst/>
          </a:prstGeom>
        </p:spPr>
        <p:txBody>
          <a:bodyPr anchor="t" rtlCol="false" tIns="0" lIns="0" bIns="0" rIns="0">
            <a:spAutoFit/>
          </a:bodyPr>
          <a:lstStyle/>
          <a:p>
            <a:pPr algn="ctr" marL="0" indent="0" lvl="0">
              <a:lnSpc>
                <a:spcPts val="2183"/>
              </a:lnSpc>
            </a:pPr>
            <a:r>
              <a:rPr lang="en-US" b="true" sz="1641">
                <a:solidFill>
                  <a:srgbClr val="4F4A18"/>
                </a:solidFill>
                <a:latin typeface="Raleway Semi-Bold"/>
                <a:ea typeface="Raleway Semi-Bold"/>
                <a:cs typeface="Raleway Semi-Bold"/>
                <a:sym typeface="Raleway Semi-Bold"/>
              </a:rPr>
              <a:t>El juego detecta correctamente las teclas y el personaje se mueve a la dirección solicitada.</a:t>
            </a:r>
          </a:p>
        </p:txBody>
      </p:sp>
      <p:grpSp>
        <p:nvGrpSpPr>
          <p:cNvPr name="Group 29" id="29"/>
          <p:cNvGrpSpPr/>
          <p:nvPr/>
        </p:nvGrpSpPr>
        <p:grpSpPr>
          <a:xfrm rot="0">
            <a:off x="15282985" y="2220396"/>
            <a:ext cx="2844341" cy="4105508"/>
            <a:chOff x="0" y="0"/>
            <a:chExt cx="1025573" cy="1480307"/>
          </a:xfrm>
        </p:grpSpPr>
        <p:sp>
          <p:nvSpPr>
            <p:cNvPr name="Freeform 30" id="30"/>
            <p:cNvSpPr/>
            <p:nvPr/>
          </p:nvSpPr>
          <p:spPr>
            <a:xfrm flipH="false" flipV="false" rot="0">
              <a:off x="0" y="0"/>
              <a:ext cx="1025573" cy="1480307"/>
            </a:xfrm>
            <a:custGeom>
              <a:avLst/>
              <a:gdLst/>
              <a:ahLst/>
              <a:cxnLst/>
              <a:rect r="r" b="b" t="t" l="l"/>
              <a:pathLst>
                <a:path h="1480307" w="1025573">
                  <a:moveTo>
                    <a:pt x="27219" y="0"/>
                  </a:moveTo>
                  <a:lnTo>
                    <a:pt x="998354" y="0"/>
                  </a:lnTo>
                  <a:cubicBezTo>
                    <a:pt x="1005573" y="0"/>
                    <a:pt x="1012496" y="2868"/>
                    <a:pt x="1017601" y="7972"/>
                  </a:cubicBezTo>
                  <a:cubicBezTo>
                    <a:pt x="1022705" y="13077"/>
                    <a:pt x="1025573" y="20000"/>
                    <a:pt x="1025573" y="27219"/>
                  </a:cubicBezTo>
                  <a:lnTo>
                    <a:pt x="1025573" y="1453089"/>
                  </a:lnTo>
                  <a:cubicBezTo>
                    <a:pt x="1025573" y="1460307"/>
                    <a:pt x="1022705" y="1467231"/>
                    <a:pt x="1017601" y="1472335"/>
                  </a:cubicBezTo>
                  <a:cubicBezTo>
                    <a:pt x="1012496" y="1477440"/>
                    <a:pt x="1005573" y="1480307"/>
                    <a:pt x="998354" y="1480307"/>
                  </a:cubicBezTo>
                  <a:lnTo>
                    <a:pt x="27219" y="1480307"/>
                  </a:lnTo>
                  <a:cubicBezTo>
                    <a:pt x="12186" y="1480307"/>
                    <a:pt x="0" y="1468121"/>
                    <a:pt x="0" y="1453089"/>
                  </a:cubicBezTo>
                  <a:lnTo>
                    <a:pt x="0" y="27219"/>
                  </a:lnTo>
                  <a:cubicBezTo>
                    <a:pt x="0" y="20000"/>
                    <a:pt x="2868" y="13077"/>
                    <a:pt x="7972" y="7972"/>
                  </a:cubicBezTo>
                  <a:cubicBezTo>
                    <a:pt x="13077" y="2868"/>
                    <a:pt x="20000" y="0"/>
                    <a:pt x="27219" y="0"/>
                  </a:cubicBezTo>
                  <a:close/>
                </a:path>
              </a:pathLst>
            </a:custGeom>
            <a:solidFill>
              <a:srgbClr val="F8E9A8"/>
            </a:solidFill>
            <a:ln w="38100" cap="sq">
              <a:solidFill>
                <a:srgbClr val="000000"/>
              </a:solidFill>
              <a:prstDash val="solid"/>
              <a:miter/>
            </a:ln>
          </p:spPr>
        </p:sp>
        <p:sp>
          <p:nvSpPr>
            <p:cNvPr name="TextBox 31" id="31"/>
            <p:cNvSpPr txBox="true"/>
            <p:nvPr/>
          </p:nvSpPr>
          <p:spPr>
            <a:xfrm>
              <a:off x="0" y="-38100"/>
              <a:ext cx="1025573" cy="15184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32" id="32"/>
          <p:cNvSpPr txBox="true"/>
          <p:nvPr/>
        </p:nvSpPr>
        <p:spPr>
          <a:xfrm rot="0">
            <a:off x="15847941" y="2771881"/>
            <a:ext cx="1714431" cy="564047"/>
          </a:xfrm>
          <a:prstGeom prst="rect">
            <a:avLst/>
          </a:prstGeom>
        </p:spPr>
        <p:txBody>
          <a:bodyPr anchor="t" rtlCol="false" tIns="0" lIns="0" bIns="0" rIns="0">
            <a:spAutoFit/>
          </a:bodyPr>
          <a:lstStyle/>
          <a:p>
            <a:pPr algn="ctr" marL="0" indent="0" lvl="1">
              <a:lnSpc>
                <a:spcPts val="2152"/>
              </a:lnSpc>
            </a:pPr>
            <a:r>
              <a:rPr lang="en-US" b="true" sz="2391" spc="-59">
                <a:solidFill>
                  <a:srgbClr val="4F4A18"/>
                </a:solidFill>
                <a:latin typeface="Raleway Bold"/>
                <a:ea typeface="Raleway Bold"/>
                <a:cs typeface="Raleway Bold"/>
                <a:sym typeface="Raleway Bold"/>
              </a:rPr>
              <a:t>Medida de la respuesta</a:t>
            </a:r>
          </a:p>
        </p:txBody>
      </p:sp>
      <p:sp>
        <p:nvSpPr>
          <p:cNvPr name="TextBox 33" id="33"/>
          <p:cNvSpPr txBox="true"/>
          <p:nvPr/>
        </p:nvSpPr>
        <p:spPr>
          <a:xfrm rot="0">
            <a:off x="15644466" y="3586363"/>
            <a:ext cx="2121380" cy="1106399"/>
          </a:xfrm>
          <a:prstGeom prst="rect">
            <a:avLst/>
          </a:prstGeom>
        </p:spPr>
        <p:txBody>
          <a:bodyPr anchor="t" rtlCol="false" tIns="0" lIns="0" bIns="0" rIns="0">
            <a:spAutoFit/>
          </a:bodyPr>
          <a:lstStyle/>
          <a:p>
            <a:pPr algn="ctr" marL="0" indent="0" lvl="0">
              <a:lnSpc>
                <a:spcPts val="2181"/>
              </a:lnSpc>
            </a:pPr>
            <a:r>
              <a:rPr lang="en-US" b="true" sz="1640">
                <a:solidFill>
                  <a:srgbClr val="4F4A18"/>
                </a:solidFill>
                <a:latin typeface="Raleway Semi-Bold"/>
                <a:ea typeface="Raleway Semi-Bold"/>
                <a:cs typeface="Raleway Semi-Bold"/>
                <a:sym typeface="Raleway Semi-Bold"/>
              </a:rPr>
              <a:t>El personaje se desplaza en menos de un segundo a la dirección solicitada</a:t>
            </a:r>
          </a:p>
        </p:txBody>
      </p:sp>
      <p:sp>
        <p:nvSpPr>
          <p:cNvPr name="TextBox 34" id="34"/>
          <p:cNvSpPr txBox="true"/>
          <p:nvPr/>
        </p:nvSpPr>
        <p:spPr>
          <a:xfrm rot="0">
            <a:off x="1149555" y="7573679"/>
            <a:ext cx="16168442" cy="981765"/>
          </a:xfrm>
          <a:prstGeom prst="rect">
            <a:avLst/>
          </a:prstGeom>
        </p:spPr>
        <p:txBody>
          <a:bodyPr anchor="t" rtlCol="false" tIns="0" lIns="0" bIns="0" rIns="0">
            <a:spAutoFit/>
          </a:bodyPr>
          <a:lstStyle/>
          <a:p>
            <a:pPr algn="just" marL="0" indent="0" lvl="0">
              <a:lnSpc>
                <a:spcPts val="2599"/>
              </a:lnSpc>
            </a:pPr>
            <a:r>
              <a:rPr lang="en-US" b="true" sz="2499">
                <a:solidFill>
                  <a:srgbClr val="4F4A18"/>
                </a:solidFill>
                <a:latin typeface="DM Sans Bold"/>
                <a:ea typeface="DM Sans Bold"/>
                <a:cs typeface="DM Sans Bold"/>
                <a:sym typeface="DM Sans Bold"/>
              </a:rPr>
              <a:t>Durante una partida normal el usuario desea presionar las teclas W,A,S,D para desplazarse hacia arriba, izquierda, abajo y derecha respectivamente por comodidad; al presionar una de esas teclas el sistema responde moviendo correctamente al personaje en la dirección indicada en menos de 1 segundo.</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FF7D6"/>
        </a:solidFill>
      </p:bgPr>
    </p:bg>
    <p:spTree>
      <p:nvGrpSpPr>
        <p:cNvPr id="1" name=""/>
        <p:cNvGrpSpPr/>
        <p:nvPr/>
      </p:nvGrpSpPr>
      <p:grpSpPr>
        <a:xfrm>
          <a:off x="0" y="0"/>
          <a:ext cx="0" cy="0"/>
          <a:chOff x="0" y="0"/>
          <a:chExt cx="0" cy="0"/>
        </a:xfrm>
      </p:grpSpPr>
      <p:sp>
        <p:nvSpPr>
          <p:cNvPr name="TextBox 2" id="2"/>
          <p:cNvSpPr txBox="true"/>
          <p:nvPr/>
        </p:nvSpPr>
        <p:spPr>
          <a:xfrm rot="0">
            <a:off x="7216621" y="4894568"/>
            <a:ext cx="3854758" cy="447316"/>
          </a:xfrm>
          <a:prstGeom prst="rect">
            <a:avLst/>
          </a:prstGeom>
        </p:spPr>
        <p:txBody>
          <a:bodyPr anchor="t" rtlCol="false" tIns="0" lIns="0" bIns="0" rIns="0">
            <a:spAutoFit/>
          </a:bodyPr>
          <a:lstStyle/>
          <a:p>
            <a:pPr algn="ctr">
              <a:lnSpc>
                <a:spcPts val="3756"/>
              </a:lnSpc>
            </a:pPr>
            <a:r>
              <a:rPr lang="en-US" b="true" sz="2683">
                <a:solidFill>
                  <a:srgbClr val="000000"/>
                </a:solidFill>
                <a:latin typeface="DM Sans Bold"/>
                <a:ea typeface="DM Sans Bold"/>
                <a:cs typeface="DM Sans Bold"/>
                <a:sym typeface="DM Sans Bold"/>
              </a:rPr>
              <a:t>Fin</a:t>
            </a:r>
          </a:p>
        </p:txBody>
      </p:sp>
      <p:sp>
        <p:nvSpPr>
          <p:cNvPr name="TextBox 3" id="3"/>
          <p:cNvSpPr txBox="true"/>
          <p:nvPr/>
        </p:nvSpPr>
        <p:spPr>
          <a:xfrm rot="0">
            <a:off x="7953720" y="9076637"/>
            <a:ext cx="2380560" cy="177504"/>
          </a:xfrm>
          <a:prstGeom prst="rect">
            <a:avLst/>
          </a:prstGeom>
        </p:spPr>
        <p:txBody>
          <a:bodyPr anchor="t" rtlCol="false" tIns="0" lIns="0" bIns="0" rIns="0">
            <a:spAutoFit/>
          </a:bodyPr>
          <a:lstStyle/>
          <a:p>
            <a:pPr algn="ctr">
              <a:lnSpc>
                <a:spcPts val="1581"/>
              </a:lnSpc>
            </a:pPr>
            <a:r>
              <a:rPr lang="en-US" sz="1129">
                <a:solidFill>
                  <a:srgbClr val="000000"/>
                </a:solidFill>
                <a:latin typeface="DM Sans"/>
                <a:ea typeface="DM Sans"/>
                <a:cs typeface="DM Sans"/>
                <a:sym typeface="DM Sans"/>
              </a:rPr>
              <a:t>unsitiogenial.es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DAHU3AcMv8M</dc:identifier>
  <dcterms:modified xsi:type="dcterms:W3CDTF">2011-08-01T06:04:30Z</dcterms:modified>
  <cp:revision>1</cp:revision>
  <dc:title>MazeGame_ArqSoft</dc:title>
</cp:coreProperties>
</file>